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varScale="1">
        <p:scale>
          <a:sx n="85" d="100"/>
          <a:sy n="85" d="100"/>
        </p:scale>
        <p:origin x="208" y="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Illicit rate</c:v>
                </c:pt>
              </c:strCache>
            </c:strRef>
          </c:tx>
          <c:spPr>
            <a:ln w="31750" cap="flat">
              <a:solidFill>
                <a:srgbClr val="C8322B"/>
              </a:solidFill>
              <a:prstDash val="solid"/>
              <a:round/>
            </a:ln>
            <a:effectLst/>
          </c:spPr>
          <c:marker>
            <c:symbol val="circle"/>
            <c:size val="6"/>
            <c:spPr>
              <a:solidFill>
                <a:srgbClr val="C8322B"/>
              </a:solidFill>
              <a:ln w="9525" cap="flat">
                <a:solidFill>
                  <a:srgbClr val="C8322B"/>
                </a:solidFill>
                <a:prstDash val="solid"/>
                <a:round/>
              </a:ln>
              <a:effectLst/>
            </c:spPr>
          </c:marker>
          <c:cat>
            <c:strRef>
              <c:f>Sheet1!$A$2:$A$50</c:f>
              <c:strCach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strCache>
            </c:strRef>
          </c:cat>
          <c:val>
            <c:numRef>
              <c:f>Sheet1!$B$2:$B$50</c:f>
              <c:numCache>
                <c:formatCode>General</c:formatCode>
                <c:ptCount val="49"/>
                <c:pt idx="0">
                  <c:v>0.79</c:v>
                </c:pt>
                <c:pt idx="1">
                  <c:v>1.61</c:v>
                </c:pt>
                <c:pt idx="2">
                  <c:v>0.86</c:v>
                </c:pt>
                <c:pt idx="3">
                  <c:v>2.08</c:v>
                </c:pt>
                <c:pt idx="4">
                  <c:v>0.43</c:v>
                </c:pt>
                <c:pt idx="5">
                  <c:v>1.03</c:v>
                </c:pt>
                <c:pt idx="6">
                  <c:v>8.48</c:v>
                </c:pt>
                <c:pt idx="7">
                  <c:v>5.75</c:v>
                </c:pt>
                <c:pt idx="8">
                  <c:v>31.88</c:v>
                </c:pt>
                <c:pt idx="9">
                  <c:v>1.85</c:v>
                </c:pt>
                <c:pt idx="10">
                  <c:v>18.82</c:v>
                </c:pt>
                <c:pt idx="11">
                  <c:v>3.16</c:v>
                </c:pt>
                <c:pt idx="12">
                  <c:v>35.97</c:v>
                </c:pt>
                <c:pt idx="13">
                  <c:v>10.31</c:v>
                </c:pt>
                <c:pt idx="14">
                  <c:v>23.79</c:v>
                </c:pt>
                <c:pt idx="15">
                  <c:v>24.15</c:v>
                </c:pt>
                <c:pt idx="16">
                  <c:v>12.21</c:v>
                </c:pt>
                <c:pt idx="17">
                  <c:v>13.37</c:v>
                </c:pt>
                <c:pt idx="18">
                  <c:v>10.74</c:v>
                </c:pt>
                <c:pt idx="19">
                  <c:v>28.89</c:v>
                </c:pt>
                <c:pt idx="20">
                  <c:v>15.6</c:v>
                </c:pt>
                <c:pt idx="21">
                  <c:v>8.9600000000000009</c:v>
                </c:pt>
                <c:pt idx="22">
                  <c:v>4.47</c:v>
                </c:pt>
                <c:pt idx="23">
                  <c:v>12.17</c:v>
                </c:pt>
                <c:pt idx="24">
                  <c:v>19.87</c:v>
                </c:pt>
                <c:pt idx="25">
                  <c:v>18.57</c:v>
                </c:pt>
                <c:pt idx="26">
                  <c:v>11.65</c:v>
                </c:pt>
                <c:pt idx="27">
                  <c:v>29.93</c:v>
                </c:pt>
                <c:pt idx="28">
                  <c:v>28.02</c:v>
                </c:pt>
                <c:pt idx="29">
                  <c:v>15.84</c:v>
                </c:pt>
                <c:pt idx="30">
                  <c:v>14.93</c:v>
                </c:pt>
                <c:pt idx="31">
                  <c:v>25.85</c:v>
                </c:pt>
                <c:pt idx="32">
                  <c:v>5.22</c:v>
                </c:pt>
                <c:pt idx="33">
                  <c:v>7.18</c:v>
                </c:pt>
                <c:pt idx="34">
                  <c:v>13.57</c:v>
                </c:pt>
                <c:pt idx="35">
                  <c:v>1.93</c:v>
                </c:pt>
                <c:pt idx="36">
                  <c:v>8.0299999999999994</c:v>
                </c:pt>
                <c:pt idx="37">
                  <c:v>14.68</c:v>
                </c:pt>
                <c:pt idx="38">
                  <c:v>6.85</c:v>
                </c:pt>
                <c:pt idx="39">
                  <c:v>9.25</c:v>
                </c:pt>
                <c:pt idx="40">
                  <c:v>10.25</c:v>
                </c:pt>
                <c:pt idx="41">
                  <c:v>11.1</c:v>
                </c:pt>
                <c:pt idx="42">
                  <c:v>1.75</c:v>
                </c:pt>
                <c:pt idx="43">
                  <c:v>1.51</c:v>
                </c:pt>
                <c:pt idx="44">
                  <c:v>0.41</c:v>
                </c:pt>
                <c:pt idx="45">
                  <c:v>0.28000000000000003</c:v>
                </c:pt>
                <c:pt idx="46">
                  <c:v>2.6</c:v>
                </c:pt>
                <c:pt idx="47">
                  <c:v>7.64</c:v>
                </c:pt>
                <c:pt idx="48">
                  <c:v>11.76</c:v>
                </c:pt>
              </c:numCache>
            </c:numRef>
          </c:val>
          <c:smooth val="0"/>
          <c:extLst>
            <c:ext xmlns:c16="http://schemas.microsoft.com/office/drawing/2014/chart" uri="{C3380CC4-5D6E-409C-BE32-E72D297353CC}">
              <c16:uniqueId val="{00000000-5B50-5049-987A-C955EE9F1A7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E7A88"/>
                    </a:solidFill>
                    <a:latin typeface="Arial"/>
                  </a:defRPr>
                </a:pPr>
                <a:r>
                  <a:rPr lang="en-US" sz="1000" b="0" i="0" u="none" strike="noStrike">
                    <a:solidFill>
                      <a:srgbClr val="6E7A88"/>
                    </a:solidFill>
                    <a:latin typeface="Arial"/>
                  </a:rPr>
                  <a:t>time period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7A88"/>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2A2E35"/>
              </a:solidFill>
              <a:prstDash val="solid"/>
              <a:round/>
            </a:ln>
          </c:spPr>
        </c:majorGridlines>
        <c:title>
          <c:tx>
            <c:rich>
              <a:bodyPr/>
              <a:lstStyle/>
              <a:p>
                <a:pPr>
                  <a:defRPr sz="1000" b="0" i="0" u="none" strike="noStrike">
                    <a:solidFill>
                      <a:srgbClr val="6E7A88"/>
                    </a:solidFill>
                    <a:latin typeface="Arial"/>
                  </a:defRPr>
                </a:pPr>
                <a:r>
                  <a:rPr lang="en-US" sz="1000" b="0" i="0" u="none" strike="noStrike">
                    <a:solidFill>
                      <a:srgbClr val="6E7A88"/>
                    </a:solidFill>
                    <a:latin typeface="Arial"/>
                  </a:rPr>
                  <a:t>% illicit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A8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with &gt;=1 illicit neighbour</c:v>
                </c:pt>
              </c:strCache>
            </c:strRef>
          </c:tx>
          <c:spPr>
            <a:solidFill>
              <a:srgbClr val="C8322B"/>
            </a:solidFill>
            <a:effectLst/>
          </c:spPr>
          <c:invertIfNegative val="0"/>
          <c:dPt>
            <c:idx val="0"/>
            <c:invertIfNegative val="0"/>
            <c:bubble3D val="0"/>
            <c:extLst>
              <c:ext xmlns:c16="http://schemas.microsoft.com/office/drawing/2014/chart" uri="{C3380CC4-5D6E-409C-BE32-E72D297353CC}">
                <c16:uniqueId val="{00000001-F5D7-7B49-8C5F-A6BFD7071ECA}"/>
              </c:ext>
            </c:extLst>
          </c:dPt>
          <c:dPt>
            <c:idx val="1"/>
            <c:invertIfNegative val="0"/>
            <c:bubble3D val="0"/>
            <c:spPr>
              <a:solidFill>
                <a:srgbClr val="48586B"/>
              </a:solidFill>
              <a:effectLst/>
            </c:spPr>
            <c:extLst>
              <c:ext xmlns:c16="http://schemas.microsoft.com/office/drawing/2014/chart" uri="{C3380CC4-5D6E-409C-BE32-E72D297353CC}">
                <c16:uniqueId val="{00000003-F5D7-7B49-8C5F-A6BFD7071ECA}"/>
              </c:ext>
            </c:extLst>
          </c:dPt>
          <c:dPt>
            <c:idx val="2"/>
            <c:invertIfNegative val="0"/>
            <c:bubble3D val="0"/>
            <c:spPr>
              <a:solidFill>
                <a:srgbClr val="6E7A88"/>
              </a:solidFill>
              <a:effectLst/>
            </c:spPr>
            <c:extLst>
              <c:ext xmlns:c16="http://schemas.microsoft.com/office/drawing/2014/chart" uri="{C3380CC4-5D6E-409C-BE32-E72D297353CC}">
                <c16:uniqueId val="{00000005-F5D7-7B49-8C5F-A6BFD7071ECA}"/>
              </c:ext>
            </c:extLst>
          </c:dPt>
          <c:dLbls>
            <c:numFmt formatCode="0.0&quot;%&quot;" sourceLinked="0"/>
            <c:spPr>
              <a:noFill/>
              <a:ln>
                <a:noFill/>
              </a:ln>
              <a:effectLst/>
            </c:spPr>
            <c:txPr>
              <a:bodyPr/>
              <a:lstStyle/>
              <a:p>
                <a:pPr>
                  <a:defRPr sz="1300" b="0" i="0" u="none" strike="noStrike">
                    <a:solidFill>
                      <a:srgbClr val="15181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Illicit</c:v>
                </c:pt>
                <c:pt idx="1">
                  <c:v>Licit</c:v>
                </c:pt>
                <c:pt idx="2">
                  <c:v>Unlabelled</c:v>
                </c:pt>
              </c:strCache>
            </c:strRef>
          </c:cat>
          <c:val>
            <c:numRef>
              <c:f>Sheet1!$B$2:$B$4</c:f>
              <c:numCache>
                <c:formatCode>General</c:formatCode>
                <c:ptCount val="3"/>
                <c:pt idx="0">
                  <c:v>30.01</c:v>
                </c:pt>
                <c:pt idx="1">
                  <c:v>2.44</c:v>
                </c:pt>
                <c:pt idx="2">
                  <c:v>2.56</c:v>
                </c:pt>
              </c:numCache>
            </c:numRef>
          </c:val>
          <c:extLst>
            <c:ext xmlns:c16="http://schemas.microsoft.com/office/drawing/2014/chart" uri="{C3380CC4-5D6E-409C-BE32-E72D297353CC}">
              <c16:uniqueId val="{00000006-F5D7-7B49-8C5F-A6BFD7071EC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5181D"/>
                </a:solidFill>
                <a:latin typeface="Calibri"/>
              </a:defRPr>
            </a:pPr>
            <a:endParaRPr lang="en-US"/>
          </a:p>
        </c:txPr>
        <c:crossAx val="2094734552"/>
        <c:crosses val="autoZero"/>
        <c:auto val="1"/>
        <c:lblAlgn val="ctr"/>
        <c:lblOffset val="100"/>
        <c:noMultiLvlLbl val="1"/>
      </c:catAx>
      <c:valAx>
        <c:axId val="2094734552"/>
        <c:scaling>
          <c:orientation val="minMax"/>
          <c:max val="36"/>
          <c:min val="0"/>
        </c:scaling>
        <c:delete val="0"/>
        <c:axPos val="l"/>
        <c:majorGridlines>
          <c:spPr>
            <a:ln w="9525"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A8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Features</c:v>
                </c:pt>
              </c:strCache>
            </c:strRef>
          </c:tx>
          <c:spPr>
            <a:solidFill>
              <a:srgbClr val="6E7A88"/>
            </a:solidFill>
            <a:effectLst/>
          </c:spPr>
          <c:invertIfNegative val="0"/>
          <c:dPt>
            <c:idx val="0"/>
            <c:invertIfNegative val="0"/>
            <c:bubble3D val="0"/>
            <c:extLst>
              <c:ext xmlns:c16="http://schemas.microsoft.com/office/drawing/2014/chart" uri="{C3380CC4-5D6E-409C-BE32-E72D297353CC}">
                <c16:uniqueId val="{00000001-0DF2-3C44-B334-A903A5B5A159}"/>
              </c:ext>
            </c:extLst>
          </c:dPt>
          <c:dPt>
            <c:idx val="1"/>
            <c:invertIfNegative val="0"/>
            <c:bubble3D val="0"/>
            <c:spPr>
              <a:solidFill>
                <a:srgbClr val="48586B"/>
              </a:solidFill>
              <a:effectLst/>
            </c:spPr>
            <c:extLst>
              <c:ext xmlns:c16="http://schemas.microsoft.com/office/drawing/2014/chart" uri="{C3380CC4-5D6E-409C-BE32-E72D297353CC}">
                <c16:uniqueId val="{00000003-0DF2-3C44-B334-A903A5B5A159}"/>
              </c:ext>
            </c:extLst>
          </c:dPt>
          <c:dPt>
            <c:idx val="2"/>
            <c:invertIfNegative val="0"/>
            <c:bubble3D val="0"/>
            <c:spPr>
              <a:solidFill>
                <a:srgbClr val="C8322B"/>
              </a:solidFill>
              <a:effectLst/>
            </c:spPr>
            <c:extLst>
              <c:ext xmlns:c16="http://schemas.microsoft.com/office/drawing/2014/chart" uri="{C3380CC4-5D6E-409C-BE32-E72D297353CC}">
                <c16:uniqueId val="{00000005-0DF2-3C44-B334-A903A5B5A159}"/>
              </c:ext>
            </c:extLst>
          </c:dPt>
          <c:dPt>
            <c:idx val="3"/>
            <c:invertIfNegative val="0"/>
            <c:bubble3D val="0"/>
            <c:spPr>
              <a:solidFill>
                <a:srgbClr val="C8322B"/>
              </a:solidFill>
              <a:effectLst/>
            </c:spPr>
            <c:extLst>
              <c:ext xmlns:c16="http://schemas.microsoft.com/office/drawing/2014/chart" uri="{C3380CC4-5D6E-409C-BE32-E72D297353CC}">
                <c16:uniqueId val="{00000007-0DF2-3C44-B334-A903A5B5A159}"/>
              </c:ext>
            </c:extLst>
          </c:dPt>
          <c:dLbls>
            <c:numFmt formatCode="#,##0" sourceLinked="0"/>
            <c:spPr>
              <a:noFill/>
              <a:ln>
                <a:noFill/>
              </a:ln>
              <a:effectLst/>
            </c:spPr>
            <c:txPr>
              <a:bodyPr/>
              <a:lstStyle/>
              <a:p>
                <a:pPr>
                  <a:defRPr sz="1200" b="0" i="0" u="none" strike="noStrike">
                    <a:solidFill>
                      <a:srgbClr val="15181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Negligible
|d| &lt; 0.2</c:v>
                </c:pt>
                <c:pt idx="1">
                  <c:v>Small
0.2–0.5</c:v>
                </c:pt>
                <c:pt idx="2">
                  <c:v>Medium
0.5–0.8</c:v>
                </c:pt>
                <c:pt idx="3">
                  <c:v>Large
|d| ≥ 0.8</c:v>
                </c:pt>
              </c:strCache>
            </c:strRef>
          </c:cat>
          <c:val>
            <c:numRef>
              <c:f>Sheet1!$B$2:$B$5</c:f>
              <c:numCache>
                <c:formatCode>General</c:formatCode>
                <c:ptCount val="4"/>
                <c:pt idx="0">
                  <c:v>102</c:v>
                </c:pt>
                <c:pt idx="1">
                  <c:v>54</c:v>
                </c:pt>
                <c:pt idx="2">
                  <c:v>8</c:v>
                </c:pt>
                <c:pt idx="3">
                  <c:v>1</c:v>
                </c:pt>
              </c:numCache>
            </c:numRef>
          </c:val>
          <c:extLst>
            <c:ext xmlns:c16="http://schemas.microsoft.com/office/drawing/2014/chart" uri="{C3380CC4-5D6E-409C-BE32-E72D297353CC}">
              <c16:uniqueId val="{00000008-0DF2-3C44-B334-A903A5B5A15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5181D"/>
                </a:solidFill>
                <a:latin typeface="Calibri"/>
              </a:defRPr>
            </a:pPr>
            <a:endParaRPr lang="en-US"/>
          </a:p>
        </c:txPr>
        <c:crossAx val="2094734552"/>
        <c:crosses val="autoZero"/>
        <c:auto val="1"/>
        <c:lblAlgn val="ctr"/>
        <c:lblOffset val="100"/>
        <c:noMultiLvlLbl val="1"/>
      </c:catAx>
      <c:valAx>
        <c:axId val="2094734552"/>
        <c:scaling>
          <c:orientation val="minMax"/>
          <c:max val="115"/>
          <c:min val="0"/>
        </c:scaling>
        <c:delete val="0"/>
        <c:axPos val="l"/>
        <c:majorGridlines>
          <c:spPr>
            <a:ln w="9525"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A8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|point-biserial r| with illicit outcome</c:v>
                </c:pt>
              </c:strCache>
            </c:strRef>
          </c:tx>
          <c:spPr>
            <a:solidFill>
              <a:srgbClr val="C8322B"/>
            </a:solidFill>
            <a:effectLst/>
          </c:spPr>
          <c:invertIfNegative val="0"/>
          <c:dPt>
            <c:idx val="0"/>
            <c:invertIfNegative val="0"/>
            <c:bubble3D val="0"/>
            <c:extLst>
              <c:ext xmlns:c16="http://schemas.microsoft.com/office/drawing/2014/chart" uri="{C3380CC4-5D6E-409C-BE32-E72D297353CC}">
                <c16:uniqueId val="{00000001-2CC9-A148-9637-339995AACC97}"/>
              </c:ext>
            </c:extLst>
          </c:dPt>
          <c:dPt>
            <c:idx val="1"/>
            <c:invertIfNegative val="0"/>
            <c:bubble3D val="0"/>
            <c:spPr>
              <a:solidFill>
                <a:srgbClr val="6E7A88"/>
              </a:solidFill>
              <a:effectLst/>
            </c:spPr>
            <c:extLst>
              <c:ext xmlns:c16="http://schemas.microsoft.com/office/drawing/2014/chart" uri="{C3380CC4-5D6E-409C-BE32-E72D297353CC}">
                <c16:uniqueId val="{00000003-2CC9-A148-9637-339995AACC97}"/>
              </c:ext>
            </c:extLst>
          </c:dPt>
          <c:dPt>
            <c:idx val="2"/>
            <c:invertIfNegative val="0"/>
            <c:bubble3D val="0"/>
            <c:spPr>
              <a:solidFill>
                <a:srgbClr val="6E7A88"/>
              </a:solidFill>
              <a:effectLst/>
            </c:spPr>
            <c:extLst>
              <c:ext xmlns:c16="http://schemas.microsoft.com/office/drawing/2014/chart" uri="{C3380CC4-5D6E-409C-BE32-E72D297353CC}">
                <c16:uniqueId val="{00000005-2CC9-A148-9637-339995AACC97}"/>
              </c:ext>
            </c:extLst>
          </c:dPt>
          <c:dPt>
            <c:idx val="3"/>
            <c:invertIfNegative val="0"/>
            <c:bubble3D val="0"/>
            <c:extLst>
              <c:ext xmlns:c16="http://schemas.microsoft.com/office/drawing/2014/chart" uri="{C3380CC4-5D6E-409C-BE32-E72D297353CC}">
                <c16:uniqueId val="{00000007-2CC9-A148-9637-339995AACC97}"/>
              </c:ext>
            </c:extLst>
          </c:dPt>
          <c:dLbls>
            <c:numFmt formatCode="0.000" sourceLinked="0"/>
            <c:spPr>
              <a:noFill/>
              <a:ln>
                <a:noFill/>
              </a:ln>
              <a:effectLst/>
            </c:spPr>
            <c:txPr>
              <a:bodyPr/>
              <a:lstStyle/>
              <a:p>
                <a:pPr>
                  <a:defRPr sz="1200" b="0" i="0" u="none" strike="noStrike">
                    <a:solidFill>
                      <a:srgbClr val="15181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illicit_neighbours</c:v>
                </c:pt>
                <c:pt idx="1">
                  <c:v>local_feature_89</c:v>
                </c:pt>
                <c:pt idx="2">
                  <c:v>local_feature_53</c:v>
                </c:pt>
                <c:pt idx="3">
                  <c:v>illicit_neighbour_ratio</c:v>
                </c:pt>
              </c:strCache>
            </c:strRef>
          </c:cat>
          <c:val>
            <c:numRef>
              <c:f>Sheet1!$B$2:$B$5</c:f>
              <c:numCache>
                <c:formatCode>General</c:formatCode>
                <c:ptCount val="4"/>
                <c:pt idx="0">
                  <c:v>0.21199999999999999</c:v>
                </c:pt>
                <c:pt idx="1">
                  <c:v>0.22800000000000001</c:v>
                </c:pt>
                <c:pt idx="2">
                  <c:v>0.26200000000000001</c:v>
                </c:pt>
                <c:pt idx="3">
                  <c:v>0.41599999999999998</c:v>
                </c:pt>
              </c:numCache>
            </c:numRef>
          </c:val>
          <c:extLst>
            <c:ext xmlns:c16="http://schemas.microsoft.com/office/drawing/2014/chart" uri="{C3380CC4-5D6E-409C-BE32-E72D297353CC}">
              <c16:uniqueId val="{00000008-2CC9-A148-9637-339995AACC9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5181D"/>
                </a:solidFill>
                <a:latin typeface="Courier New"/>
              </a:defRPr>
            </a:pPr>
            <a:endParaRPr lang="en-US"/>
          </a:p>
        </c:txPr>
        <c:crossAx val="2094734552"/>
        <c:crosses val="autoZero"/>
        <c:auto val="1"/>
        <c:lblAlgn val="ctr"/>
        <c:lblOffset val="100"/>
        <c:noMultiLvlLbl val="1"/>
      </c:catAx>
      <c:valAx>
        <c:axId val="2094734552"/>
        <c:scaling>
          <c:orientation val="minMax"/>
          <c:max val="0.5"/>
          <c:min val="0"/>
        </c:scaling>
        <c:delete val="0"/>
        <c:axPos val="b"/>
        <c:majorGridlines>
          <c:spPr>
            <a:ln w="9525" cap="flat">
              <a:solidFill>
                <a:srgbClr val="DDE1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7A88"/>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6095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1828800"/>
            <a:ext cx="128016" cy="128016"/>
          </a:xfrm>
          <a:prstGeom prst="rect">
            <a:avLst/>
          </a:prstGeom>
          <a:solidFill>
            <a:srgbClr val="C8322B"/>
          </a:solidFill>
          <a:ln/>
        </p:spPr>
        <p:txBody>
          <a:bodyPr/>
          <a:lstStyle/>
          <a:p>
            <a:endParaRPr lang="en-US"/>
          </a:p>
        </p:txBody>
      </p:sp>
      <p:sp>
        <p:nvSpPr>
          <p:cNvPr id="3" name="Text 1"/>
          <p:cNvSpPr/>
          <p:nvPr/>
        </p:nvSpPr>
        <p:spPr>
          <a:xfrm>
            <a:off x="960120" y="1737360"/>
            <a:ext cx="10789920" cy="310896"/>
          </a:xfrm>
          <a:prstGeom prst="rect">
            <a:avLst/>
          </a:prstGeom>
          <a:noFill/>
          <a:ln/>
        </p:spPr>
        <p:txBody>
          <a:bodyPr wrap="square" lIns="0" tIns="0" rIns="0" bIns="0" rtlCol="0" anchor="ctr"/>
          <a:lstStyle/>
          <a:p>
            <a:pPr marL="0" indent="0">
              <a:buNone/>
            </a:pPr>
            <a:r>
              <a:rPr lang="en-US" sz="1200" b="1" kern="0" spc="180" dirty="0">
                <a:solidFill>
                  <a:srgbClr val="6E7A88"/>
                </a:solidFill>
                <a:latin typeface="Calibri" pitchFamily="34" charset="0"/>
                <a:ea typeface="Calibri" pitchFamily="34" charset="-122"/>
                <a:cs typeface="Calibri" pitchFamily="34" charset="-120"/>
              </a:rPr>
              <a:t>ANLC-752  ·  DATA MANAGEMENT  ·  UNIT 8 MILESTONE</a:t>
            </a:r>
            <a:endParaRPr lang="en-US" sz="1200" dirty="0"/>
          </a:p>
        </p:txBody>
      </p:sp>
      <p:sp>
        <p:nvSpPr>
          <p:cNvPr id="4" name="Text 2"/>
          <p:cNvSpPr/>
          <p:nvPr/>
        </p:nvSpPr>
        <p:spPr>
          <a:xfrm>
            <a:off x="685800" y="2240280"/>
            <a:ext cx="10241280" cy="1737360"/>
          </a:xfrm>
          <a:prstGeom prst="rect">
            <a:avLst/>
          </a:prstGeom>
          <a:noFill/>
          <a:ln/>
        </p:spPr>
        <p:txBody>
          <a:bodyPr wrap="square" lIns="0" tIns="0" rIns="0" bIns="0" rtlCol="0" anchor="t"/>
          <a:lstStyle/>
          <a:p>
            <a:pPr marL="0" indent="0">
              <a:lnSpc>
                <a:spcPts val="4800"/>
              </a:lnSpc>
              <a:buNone/>
            </a:pPr>
            <a:r>
              <a:rPr lang="en-US" sz="4000" b="1" dirty="0">
                <a:solidFill>
                  <a:srgbClr val="FFFFFF"/>
                </a:solidFill>
                <a:latin typeface="Calibri" pitchFamily="34" charset="0"/>
                <a:ea typeface="Calibri" pitchFamily="34" charset="-122"/>
                <a:cs typeface="Calibri" pitchFamily="34" charset="-120"/>
              </a:rPr>
              <a:t>Structuring a Bitcoin transaction graph</a:t>
            </a:r>
            <a:endParaRPr lang="en-US" sz="4000" dirty="0"/>
          </a:p>
          <a:p>
            <a:pPr marL="0" indent="0">
              <a:lnSpc>
                <a:spcPts val="4800"/>
              </a:lnSpc>
              <a:buNone/>
            </a:pPr>
            <a:r>
              <a:rPr lang="en-US" sz="4000" b="1" dirty="0">
                <a:solidFill>
                  <a:srgbClr val="FFFFFF"/>
                </a:solidFill>
                <a:latin typeface="Calibri" pitchFamily="34" charset="0"/>
                <a:ea typeface="Calibri" pitchFamily="34" charset="-122"/>
                <a:cs typeface="Calibri" pitchFamily="34" charset="-120"/>
              </a:rPr>
              <a:t>for anti-money-laundering monitoring</a:t>
            </a:r>
            <a:endParaRPr lang="en-US" sz="4000" dirty="0"/>
          </a:p>
        </p:txBody>
      </p:sp>
      <p:sp>
        <p:nvSpPr>
          <p:cNvPr id="5" name="Text 3"/>
          <p:cNvSpPr/>
          <p:nvPr/>
        </p:nvSpPr>
        <p:spPr>
          <a:xfrm>
            <a:off x="685800" y="4114800"/>
            <a:ext cx="10241280" cy="365760"/>
          </a:xfrm>
          <a:prstGeom prst="rect">
            <a:avLst/>
          </a:prstGeom>
          <a:noFill/>
          <a:ln/>
        </p:spPr>
        <p:txBody>
          <a:bodyPr wrap="square" lIns="0" tIns="0" rIns="0" bIns="0" rtlCol="0" anchor="ctr"/>
          <a:lstStyle/>
          <a:p>
            <a:pPr marL="0" indent="0">
              <a:buNone/>
            </a:pPr>
            <a:r>
              <a:rPr lang="en-US" sz="1500" dirty="0">
                <a:solidFill>
                  <a:srgbClr val="E9ECEF"/>
                </a:solidFill>
                <a:latin typeface="Calibri" pitchFamily="34" charset="0"/>
                <a:ea typeface="Calibri" pitchFamily="34" charset="-122"/>
                <a:cs typeface="Calibri" pitchFamily="34" charset="-120"/>
              </a:rPr>
              <a:t>203,769 transactions · 234,355 money-flow edges · 49 periods · PostgreSQL 16</a:t>
            </a:r>
            <a:endParaRPr lang="en-US" sz="1500" dirty="0"/>
          </a:p>
        </p:txBody>
      </p:sp>
      <p:sp>
        <p:nvSpPr>
          <p:cNvPr id="6" name="Text 4"/>
          <p:cNvSpPr/>
          <p:nvPr/>
        </p:nvSpPr>
        <p:spPr>
          <a:xfrm>
            <a:off x="685800" y="5715000"/>
            <a:ext cx="54864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Alpesh Ranjan</a:t>
            </a:r>
            <a:endParaRPr lang="en-US" sz="1400" dirty="0"/>
          </a:p>
        </p:txBody>
      </p:sp>
      <p:sp>
        <p:nvSpPr>
          <p:cNvPr id="7" name="Text 5"/>
          <p:cNvSpPr/>
          <p:nvPr/>
        </p:nvSpPr>
        <p:spPr>
          <a:xfrm>
            <a:off x="685800" y="6035040"/>
            <a:ext cx="5486400" cy="292608"/>
          </a:xfrm>
          <a:prstGeom prst="rect">
            <a:avLst/>
          </a:prstGeom>
          <a:noFill/>
          <a:ln/>
        </p:spPr>
        <p:txBody>
          <a:bodyPr wrap="square" lIns="0" tIns="0" rIns="0" bIns="0" rtlCol="0" anchor="ctr"/>
          <a:lstStyle/>
          <a:p>
            <a:pPr marL="0" indent="0">
              <a:buNone/>
            </a:pPr>
            <a:r>
              <a:rPr lang="en-US" sz="1200" dirty="0">
                <a:solidFill>
                  <a:srgbClr val="6E7A88"/>
                </a:solidFill>
                <a:latin typeface="Calibri" pitchFamily="34" charset="0"/>
                <a:ea typeface="Calibri" pitchFamily="34" charset="-122"/>
                <a:cs typeface="Calibri" pitchFamily="34" charset="-120"/>
              </a:rPr>
              <a:t>Progress since Unit 1  ·  Elliptic Data Set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WHERE THIS STARTED</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The question set in Unit 1</a:t>
            </a:r>
            <a:endParaRPr lang="en-US" sz="3000" dirty="0"/>
          </a:p>
        </p:txBody>
      </p:sp>
      <p:sp>
        <p:nvSpPr>
          <p:cNvPr id="5" name="Shape 3"/>
          <p:cNvSpPr/>
          <p:nvPr/>
        </p:nvSpPr>
        <p:spPr>
          <a:xfrm>
            <a:off x="685800" y="1600200"/>
            <a:ext cx="10789920" cy="1371600"/>
          </a:xfrm>
          <a:prstGeom prst="roundRect">
            <a:avLst>
              <a:gd name="adj" fmla="val 2000"/>
            </a:avLst>
          </a:prstGeom>
          <a:solidFill>
            <a:srgbClr val="F1F3F5"/>
          </a:solidFill>
          <a:ln w="12700">
            <a:solidFill>
              <a:srgbClr val="F1F3F5"/>
            </a:solidFill>
            <a:prstDash val="solid"/>
          </a:ln>
        </p:spPr>
        <p:txBody>
          <a:bodyPr/>
          <a:lstStyle/>
          <a:p>
            <a:endParaRPr lang="en-US"/>
          </a:p>
        </p:txBody>
      </p:sp>
      <p:sp>
        <p:nvSpPr>
          <p:cNvPr id="6" name="Text 4"/>
          <p:cNvSpPr/>
          <p:nvPr/>
        </p:nvSpPr>
        <p:spPr>
          <a:xfrm>
            <a:off x="1005840" y="1783080"/>
            <a:ext cx="10149840" cy="1005840"/>
          </a:xfrm>
          <a:prstGeom prst="rect">
            <a:avLst/>
          </a:prstGeom>
          <a:noFill/>
          <a:ln/>
        </p:spPr>
        <p:txBody>
          <a:bodyPr wrap="square" lIns="0" tIns="0" rIns="0" bIns="0" rtlCol="0" anchor="ctr"/>
          <a:lstStyle/>
          <a:p>
            <a:pPr marL="0" indent="0">
              <a:lnSpc>
                <a:spcPts val="2600"/>
              </a:lnSpc>
              <a:buNone/>
            </a:pPr>
            <a:r>
              <a:rPr lang="en-US" sz="1800" i="1" dirty="0">
                <a:solidFill>
                  <a:srgbClr val="15181D"/>
                </a:solidFill>
                <a:latin typeface="Calibri" pitchFamily="34" charset="0"/>
                <a:ea typeface="Calibri" pitchFamily="34" charset="-122"/>
                <a:cs typeface="Calibri" pitchFamily="34" charset="-120"/>
              </a:rPr>
              <a:t>How can transaction-level Bitcoin data be structured in an RDBMS to support efficient identification and monitoring of patterns associated with illicit activity?</a:t>
            </a:r>
            <a:endParaRPr lang="en-US" sz="1800" dirty="0"/>
          </a:p>
        </p:txBody>
      </p:sp>
      <p:sp>
        <p:nvSpPr>
          <p:cNvPr id="7" name="Text 5"/>
          <p:cNvSpPr/>
          <p:nvPr/>
        </p:nvSpPr>
        <p:spPr>
          <a:xfrm>
            <a:off x="685800" y="3154680"/>
            <a:ext cx="10789920" cy="548640"/>
          </a:xfrm>
          <a:prstGeom prst="rect">
            <a:avLst/>
          </a:prstGeom>
          <a:noFill/>
          <a:ln/>
        </p:spPr>
        <p:txBody>
          <a:bodyPr wrap="square" lIns="0" tIns="0" rIns="0" bIns="0" rtlCol="0" anchor="ctr"/>
          <a:lstStyle/>
          <a:p>
            <a:pPr marL="0" indent="0">
              <a:lnSpc>
                <a:spcPts val="1900"/>
              </a:lnSpc>
              <a:buNone/>
            </a:pPr>
            <a:r>
              <a:rPr lang="en-US" sz="1300" dirty="0">
                <a:solidFill>
                  <a:srgbClr val="48586B"/>
                </a:solidFill>
                <a:latin typeface="Calibri" pitchFamily="34" charset="0"/>
                <a:ea typeface="Calibri" pitchFamily="34" charset="-122"/>
                <a:cs typeface="Calibri" pitchFamily="34" charset="-120"/>
              </a:rPr>
              <a:t>This is a data-management question, not a modelling one. The deliverable is a structure in which AML monitoring is expressible and auditable — so progress is measured by what the schema makes queryable, not by a model score.</a:t>
            </a:r>
            <a:endParaRPr lang="en-US" sz="1300" dirty="0"/>
          </a:p>
        </p:txBody>
      </p:sp>
      <p:sp>
        <p:nvSpPr>
          <p:cNvPr id="8" name="Shape 6"/>
          <p:cNvSpPr/>
          <p:nvPr/>
        </p:nvSpPr>
        <p:spPr>
          <a:xfrm>
            <a:off x="685800" y="3977640"/>
            <a:ext cx="3413760" cy="2011680"/>
          </a:xfrm>
          <a:prstGeom prst="roundRect">
            <a:avLst>
              <a:gd name="adj" fmla="val 1818"/>
            </a:avLst>
          </a:prstGeom>
          <a:solidFill>
            <a:srgbClr val="F1F3F5"/>
          </a:solidFill>
          <a:ln w="12700">
            <a:solidFill>
              <a:srgbClr val="F1F3F5"/>
            </a:solidFill>
            <a:prstDash val="solid"/>
          </a:ln>
        </p:spPr>
        <p:txBody>
          <a:bodyPr/>
          <a:lstStyle/>
          <a:p>
            <a:endParaRPr lang="en-US"/>
          </a:p>
        </p:txBody>
      </p:sp>
      <p:sp>
        <p:nvSpPr>
          <p:cNvPr id="9" name="Text 7"/>
          <p:cNvSpPr/>
          <p:nvPr/>
        </p:nvSpPr>
        <p:spPr>
          <a:xfrm>
            <a:off x="941832" y="4178808"/>
            <a:ext cx="290169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Unit 1 — done</a:t>
            </a:r>
            <a:endParaRPr lang="en-US" sz="1400" dirty="0"/>
          </a:p>
        </p:txBody>
      </p:sp>
      <p:sp>
        <p:nvSpPr>
          <p:cNvPr id="10" name="Text 8"/>
          <p:cNvSpPr/>
          <p:nvPr/>
        </p:nvSpPr>
        <p:spPr>
          <a:xfrm>
            <a:off x="941832" y="4526280"/>
            <a:ext cx="2901696" cy="12618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Research question fixed. Source evaluated for provenance, completeness and licence. Limitations stated up front rather than discovered later.</a:t>
            </a:r>
            <a:endParaRPr lang="en-US" sz="1200" dirty="0"/>
          </a:p>
        </p:txBody>
      </p:sp>
      <p:sp>
        <p:nvSpPr>
          <p:cNvPr id="11" name="Shape 9"/>
          <p:cNvSpPr/>
          <p:nvPr/>
        </p:nvSpPr>
        <p:spPr>
          <a:xfrm>
            <a:off x="4373880" y="3977640"/>
            <a:ext cx="3413760" cy="2011680"/>
          </a:xfrm>
          <a:prstGeom prst="roundRect">
            <a:avLst>
              <a:gd name="adj" fmla="val 1818"/>
            </a:avLst>
          </a:prstGeom>
          <a:solidFill>
            <a:srgbClr val="F1F3F5"/>
          </a:solidFill>
          <a:ln w="12700">
            <a:solidFill>
              <a:srgbClr val="F1F3F5"/>
            </a:solidFill>
            <a:prstDash val="solid"/>
          </a:ln>
        </p:spPr>
        <p:txBody>
          <a:bodyPr/>
          <a:lstStyle/>
          <a:p>
            <a:endParaRPr lang="en-US"/>
          </a:p>
        </p:txBody>
      </p:sp>
      <p:sp>
        <p:nvSpPr>
          <p:cNvPr id="12" name="Text 10"/>
          <p:cNvSpPr/>
          <p:nvPr/>
        </p:nvSpPr>
        <p:spPr>
          <a:xfrm>
            <a:off x="4629912" y="4178808"/>
            <a:ext cx="2901696" cy="310896"/>
          </a:xfrm>
          <a:prstGeom prst="rect">
            <a:avLst/>
          </a:prstGeom>
          <a:noFill/>
          <a:ln/>
        </p:spPr>
        <p:txBody>
          <a:bodyPr wrap="square" lIns="0" tIns="0" rIns="0" bIns="0" rtlCol="0" anchor="ctr"/>
          <a:lstStyle/>
          <a:p>
            <a:pPr marL="0" indent="0">
              <a:buNone/>
            </a:pPr>
            <a:r>
              <a:rPr lang="en-US" sz="1400" b="1" dirty="0">
                <a:solidFill>
                  <a:srgbClr val="C8322B"/>
                </a:solidFill>
                <a:latin typeface="Calibri" pitchFamily="34" charset="0"/>
                <a:ea typeface="Calibri" pitchFamily="34" charset="-122"/>
                <a:cs typeface="Calibri" pitchFamily="34" charset="-120"/>
              </a:rPr>
              <a:t>Unit 8 — this milestone</a:t>
            </a:r>
            <a:endParaRPr lang="en-US" sz="1400" dirty="0"/>
          </a:p>
        </p:txBody>
      </p:sp>
      <p:sp>
        <p:nvSpPr>
          <p:cNvPr id="13" name="Text 11"/>
          <p:cNvSpPr/>
          <p:nvPr/>
        </p:nvSpPr>
        <p:spPr>
          <a:xfrm>
            <a:off x="4629912" y="4526280"/>
            <a:ext cx="2901696" cy="12618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Data validated, loaded and normalised into PostgreSQL. Monitoring layer and analysis-preparation layer built entirely in SQL.</a:t>
            </a:r>
            <a:endParaRPr lang="en-US" sz="1200" dirty="0"/>
          </a:p>
        </p:txBody>
      </p:sp>
      <p:sp>
        <p:nvSpPr>
          <p:cNvPr id="14" name="Shape 12"/>
          <p:cNvSpPr/>
          <p:nvPr/>
        </p:nvSpPr>
        <p:spPr>
          <a:xfrm>
            <a:off x="8061960" y="3977640"/>
            <a:ext cx="3413760" cy="2011680"/>
          </a:xfrm>
          <a:prstGeom prst="roundRect">
            <a:avLst>
              <a:gd name="adj" fmla="val 1818"/>
            </a:avLst>
          </a:prstGeom>
          <a:solidFill>
            <a:srgbClr val="F1F3F5"/>
          </a:solidFill>
          <a:ln w="12700">
            <a:solidFill>
              <a:srgbClr val="F1F3F5"/>
            </a:solidFill>
            <a:prstDash val="solid"/>
          </a:ln>
        </p:spPr>
        <p:txBody>
          <a:bodyPr/>
          <a:lstStyle/>
          <a:p>
            <a:endParaRPr lang="en-US"/>
          </a:p>
        </p:txBody>
      </p:sp>
      <p:sp>
        <p:nvSpPr>
          <p:cNvPr id="15" name="Text 13"/>
          <p:cNvSpPr/>
          <p:nvPr/>
        </p:nvSpPr>
        <p:spPr>
          <a:xfrm>
            <a:off x="8317992" y="4178808"/>
            <a:ext cx="290169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Unit 10 — final</a:t>
            </a:r>
            <a:endParaRPr lang="en-US" sz="1400" dirty="0"/>
          </a:p>
        </p:txBody>
      </p:sp>
      <p:sp>
        <p:nvSpPr>
          <p:cNvPr id="16" name="Text 14"/>
          <p:cNvSpPr/>
          <p:nvPr/>
        </p:nvSpPr>
        <p:spPr>
          <a:xfrm>
            <a:off x="8317992" y="4526280"/>
            <a:ext cx="2901696" cy="12618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Fit and evaluate a model on the prepared matrix. Extend to an actor layer. Implement the governance controls recommended here.</a:t>
            </a:r>
            <a:endParaRPr lang="en-US" sz="1200" dirty="0"/>
          </a:p>
        </p:txBody>
      </p:sp>
      <p:sp>
        <p:nvSpPr>
          <p:cNvPr id="17" name="Text 15"/>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2</a:t>
            </a:r>
            <a:endParaRPr lang="en-US" sz="1000" dirty="0"/>
          </a:p>
        </p:txBody>
      </p:sp>
      <p:sp>
        <p:nvSpPr>
          <p:cNvPr id="18" name="Text 16"/>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THE RAW DATA</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What the dataset is, and why it fits</a:t>
            </a:r>
            <a:endParaRPr lang="en-US" sz="3000" dirty="0"/>
          </a:p>
        </p:txBody>
      </p:sp>
      <p:sp>
        <p:nvSpPr>
          <p:cNvPr id="5" name="Text 3"/>
          <p:cNvSpPr/>
          <p:nvPr/>
        </p:nvSpPr>
        <p:spPr>
          <a:xfrm>
            <a:off x="685800" y="1600200"/>
            <a:ext cx="10789920" cy="868680"/>
          </a:xfrm>
          <a:prstGeom prst="rect">
            <a:avLst/>
          </a:prstGeom>
          <a:noFill/>
          <a:ln/>
        </p:spPr>
        <p:txBody>
          <a:bodyPr wrap="square" lIns="0" tIns="0" rIns="0" bIns="0" rtlCol="0" anchor="ctr"/>
          <a:lstStyle/>
          <a:p>
            <a:pPr marL="0" indent="0">
              <a:lnSpc>
                <a:spcPts val="1900"/>
              </a:lnSpc>
              <a:buNone/>
            </a:pPr>
            <a:r>
              <a:rPr lang="en-US" sz="1300" dirty="0">
                <a:solidFill>
                  <a:srgbClr val="48586B"/>
                </a:solidFill>
                <a:latin typeface="Calibri" pitchFamily="34" charset="0"/>
                <a:ea typeface="Calibri" pitchFamily="34" charset="-122"/>
                <a:cs typeface="Calibri" pitchFamily="34" charset="-120"/>
              </a:rPr>
              <a:t>The Elliptic Data Set — real but anonymised Bitcoin transactions published by Elliptic Ltd. with the MIT-IBM Watson AI Lab. Every node is a transaction; every edge is bitcoin flowing from one transaction to another. Labels come from Elliptic's own compliance attribution process, not from the features, so feature-based analysis is not circular.</a:t>
            </a:r>
            <a:endParaRPr lang="en-US" sz="1300" dirty="0"/>
          </a:p>
        </p:txBody>
      </p:sp>
      <p:sp>
        <p:nvSpPr>
          <p:cNvPr id="6" name="Text 4"/>
          <p:cNvSpPr/>
          <p:nvPr/>
        </p:nvSpPr>
        <p:spPr>
          <a:xfrm>
            <a:off x="685800" y="2697480"/>
            <a:ext cx="2377440" cy="566928"/>
          </a:xfrm>
          <a:prstGeom prst="rect">
            <a:avLst/>
          </a:prstGeom>
          <a:noFill/>
          <a:ln/>
        </p:spPr>
        <p:txBody>
          <a:bodyPr wrap="square" lIns="0" tIns="0" rIns="0" bIns="0" rtlCol="0" anchor="ctr"/>
          <a:lstStyle/>
          <a:p>
            <a:pPr marL="0" indent="0">
              <a:buNone/>
            </a:pPr>
            <a:r>
              <a:rPr lang="en-US" sz="4000" b="1" dirty="0">
                <a:solidFill>
                  <a:srgbClr val="15181D"/>
                </a:solidFill>
                <a:latin typeface="Calibri" pitchFamily="34" charset="0"/>
                <a:ea typeface="Calibri" pitchFamily="34" charset="-122"/>
                <a:cs typeface="Calibri" pitchFamily="34" charset="-120"/>
              </a:rPr>
              <a:t>203,769</a:t>
            </a:r>
            <a:endParaRPr lang="en-US" sz="4000" dirty="0"/>
          </a:p>
        </p:txBody>
      </p:sp>
      <p:sp>
        <p:nvSpPr>
          <p:cNvPr id="7" name="Text 5"/>
          <p:cNvSpPr/>
          <p:nvPr/>
        </p:nvSpPr>
        <p:spPr>
          <a:xfrm>
            <a:off x="685800" y="3246120"/>
            <a:ext cx="2377440" cy="457200"/>
          </a:xfrm>
          <a:prstGeom prst="rect">
            <a:avLst/>
          </a:prstGeom>
          <a:noFill/>
          <a:ln/>
        </p:spPr>
        <p:txBody>
          <a:bodyPr wrap="square" lIns="0" tIns="0" rIns="0" bIns="0" rtlCol="0" anchor="t"/>
          <a:lstStyle/>
          <a:p>
            <a:pPr marL="0" indent="0">
              <a:buNone/>
            </a:pPr>
            <a:r>
              <a:rPr lang="en-US" sz="1150" dirty="0">
                <a:solidFill>
                  <a:srgbClr val="6E7A88"/>
                </a:solidFill>
                <a:latin typeface="Calibri" pitchFamily="34" charset="0"/>
                <a:ea typeface="Calibri" pitchFamily="34" charset="-122"/>
                <a:cs typeface="Calibri" pitchFamily="34" charset="-120"/>
              </a:rPr>
              <a:t>transactions (nodes)</a:t>
            </a:r>
            <a:endParaRPr lang="en-US" sz="1150" dirty="0"/>
          </a:p>
        </p:txBody>
      </p:sp>
      <p:sp>
        <p:nvSpPr>
          <p:cNvPr id="8" name="Text 6"/>
          <p:cNvSpPr/>
          <p:nvPr/>
        </p:nvSpPr>
        <p:spPr>
          <a:xfrm>
            <a:off x="3200400" y="2697480"/>
            <a:ext cx="2377440" cy="566928"/>
          </a:xfrm>
          <a:prstGeom prst="rect">
            <a:avLst/>
          </a:prstGeom>
          <a:noFill/>
          <a:ln/>
        </p:spPr>
        <p:txBody>
          <a:bodyPr wrap="square" lIns="0" tIns="0" rIns="0" bIns="0" rtlCol="0" anchor="ctr"/>
          <a:lstStyle/>
          <a:p>
            <a:pPr marL="0" indent="0">
              <a:buNone/>
            </a:pPr>
            <a:r>
              <a:rPr lang="en-US" sz="4000" b="1" dirty="0">
                <a:solidFill>
                  <a:srgbClr val="15181D"/>
                </a:solidFill>
                <a:latin typeface="Calibri" pitchFamily="34" charset="0"/>
                <a:ea typeface="Calibri" pitchFamily="34" charset="-122"/>
                <a:cs typeface="Calibri" pitchFamily="34" charset="-120"/>
              </a:rPr>
              <a:t>234,355</a:t>
            </a:r>
            <a:endParaRPr lang="en-US" sz="4000" dirty="0"/>
          </a:p>
        </p:txBody>
      </p:sp>
      <p:sp>
        <p:nvSpPr>
          <p:cNvPr id="9" name="Text 7"/>
          <p:cNvSpPr/>
          <p:nvPr/>
        </p:nvSpPr>
        <p:spPr>
          <a:xfrm>
            <a:off x="3200400" y="3246120"/>
            <a:ext cx="2377440" cy="457200"/>
          </a:xfrm>
          <a:prstGeom prst="rect">
            <a:avLst/>
          </a:prstGeom>
          <a:noFill/>
          <a:ln/>
        </p:spPr>
        <p:txBody>
          <a:bodyPr wrap="square" lIns="0" tIns="0" rIns="0" bIns="0" rtlCol="0" anchor="t"/>
          <a:lstStyle/>
          <a:p>
            <a:pPr marL="0" indent="0">
              <a:buNone/>
            </a:pPr>
            <a:r>
              <a:rPr lang="en-US" sz="1150" dirty="0">
                <a:solidFill>
                  <a:srgbClr val="6E7A88"/>
                </a:solidFill>
                <a:latin typeface="Calibri" pitchFamily="34" charset="0"/>
                <a:ea typeface="Calibri" pitchFamily="34" charset="-122"/>
                <a:cs typeface="Calibri" pitchFamily="34" charset="-120"/>
              </a:rPr>
              <a:t>directed money-flow edges</a:t>
            </a:r>
            <a:endParaRPr lang="en-US" sz="1150" dirty="0"/>
          </a:p>
        </p:txBody>
      </p:sp>
      <p:sp>
        <p:nvSpPr>
          <p:cNvPr id="10" name="Text 8"/>
          <p:cNvSpPr/>
          <p:nvPr/>
        </p:nvSpPr>
        <p:spPr>
          <a:xfrm>
            <a:off x="5715000" y="2697480"/>
            <a:ext cx="2377440" cy="566928"/>
          </a:xfrm>
          <a:prstGeom prst="rect">
            <a:avLst/>
          </a:prstGeom>
          <a:noFill/>
          <a:ln/>
        </p:spPr>
        <p:txBody>
          <a:bodyPr wrap="square" lIns="0" tIns="0" rIns="0" bIns="0" rtlCol="0" anchor="ctr"/>
          <a:lstStyle/>
          <a:p>
            <a:pPr marL="0" indent="0">
              <a:buNone/>
            </a:pPr>
            <a:r>
              <a:rPr lang="en-US" sz="4000" b="1" dirty="0">
                <a:solidFill>
                  <a:srgbClr val="15181D"/>
                </a:solidFill>
                <a:latin typeface="Calibri" pitchFamily="34" charset="0"/>
                <a:ea typeface="Calibri" pitchFamily="34" charset="-122"/>
                <a:cs typeface="Calibri" pitchFamily="34" charset="-120"/>
              </a:rPr>
              <a:t>49</a:t>
            </a:r>
            <a:endParaRPr lang="en-US" sz="4000" dirty="0"/>
          </a:p>
        </p:txBody>
      </p:sp>
      <p:sp>
        <p:nvSpPr>
          <p:cNvPr id="11" name="Text 9"/>
          <p:cNvSpPr/>
          <p:nvPr/>
        </p:nvSpPr>
        <p:spPr>
          <a:xfrm>
            <a:off x="5715000" y="3246120"/>
            <a:ext cx="2377440" cy="457200"/>
          </a:xfrm>
          <a:prstGeom prst="rect">
            <a:avLst/>
          </a:prstGeom>
          <a:noFill/>
          <a:ln/>
        </p:spPr>
        <p:txBody>
          <a:bodyPr wrap="square" lIns="0" tIns="0" rIns="0" bIns="0" rtlCol="0" anchor="t"/>
          <a:lstStyle/>
          <a:p>
            <a:pPr marL="0" indent="0">
              <a:buNone/>
            </a:pPr>
            <a:r>
              <a:rPr lang="en-US" sz="1150" dirty="0">
                <a:solidFill>
                  <a:srgbClr val="6E7A88"/>
                </a:solidFill>
                <a:latin typeface="Calibri" pitchFamily="34" charset="0"/>
                <a:ea typeface="Calibri" pitchFamily="34" charset="-122"/>
                <a:cs typeface="Calibri" pitchFamily="34" charset="-120"/>
              </a:rPr>
              <a:t>time periods, ~2 weeks each</a:t>
            </a:r>
            <a:endParaRPr lang="en-US" sz="1150" dirty="0"/>
          </a:p>
        </p:txBody>
      </p:sp>
      <p:sp>
        <p:nvSpPr>
          <p:cNvPr id="12" name="Text 10"/>
          <p:cNvSpPr/>
          <p:nvPr/>
        </p:nvSpPr>
        <p:spPr>
          <a:xfrm>
            <a:off x="8229600" y="2697480"/>
            <a:ext cx="3017520" cy="566928"/>
          </a:xfrm>
          <a:prstGeom prst="rect">
            <a:avLst/>
          </a:prstGeom>
          <a:noFill/>
          <a:ln/>
        </p:spPr>
        <p:txBody>
          <a:bodyPr wrap="square" lIns="0" tIns="0" rIns="0" bIns="0" rtlCol="0" anchor="ctr"/>
          <a:lstStyle/>
          <a:p>
            <a:pPr marL="0" indent="0">
              <a:buNone/>
            </a:pPr>
            <a:r>
              <a:rPr lang="en-US" sz="4000" b="1" dirty="0">
                <a:solidFill>
                  <a:srgbClr val="15181D"/>
                </a:solidFill>
                <a:latin typeface="Calibri" pitchFamily="34" charset="0"/>
                <a:ea typeface="Calibri" pitchFamily="34" charset="-122"/>
                <a:cs typeface="Calibri" pitchFamily="34" charset="-120"/>
              </a:rPr>
              <a:t>22.85%</a:t>
            </a:r>
            <a:endParaRPr lang="en-US" sz="4000" dirty="0"/>
          </a:p>
        </p:txBody>
      </p:sp>
      <p:sp>
        <p:nvSpPr>
          <p:cNvPr id="13" name="Text 11"/>
          <p:cNvSpPr/>
          <p:nvPr/>
        </p:nvSpPr>
        <p:spPr>
          <a:xfrm>
            <a:off x="8229600" y="3246120"/>
            <a:ext cx="3017520" cy="457200"/>
          </a:xfrm>
          <a:prstGeom prst="rect">
            <a:avLst/>
          </a:prstGeom>
          <a:noFill/>
          <a:ln/>
        </p:spPr>
        <p:txBody>
          <a:bodyPr wrap="square" lIns="0" tIns="0" rIns="0" bIns="0" rtlCol="0" anchor="t"/>
          <a:lstStyle/>
          <a:p>
            <a:pPr marL="0" indent="0">
              <a:buNone/>
            </a:pPr>
            <a:r>
              <a:rPr lang="en-US" sz="1150" dirty="0">
                <a:solidFill>
                  <a:srgbClr val="6E7A88"/>
                </a:solidFill>
                <a:latin typeface="Calibri" pitchFamily="34" charset="0"/>
                <a:ea typeface="Calibri" pitchFamily="34" charset="-122"/>
                <a:cs typeface="Calibri" pitchFamily="34" charset="-120"/>
              </a:rPr>
              <a:t>carry a ground-truth label</a:t>
            </a:r>
            <a:endParaRPr lang="en-US" sz="1150" dirty="0"/>
          </a:p>
        </p:txBody>
      </p:sp>
      <p:sp>
        <p:nvSpPr>
          <p:cNvPr id="14" name="Shape 12"/>
          <p:cNvSpPr/>
          <p:nvPr/>
        </p:nvSpPr>
        <p:spPr>
          <a:xfrm>
            <a:off x="685800" y="4114800"/>
            <a:ext cx="10789920" cy="0"/>
          </a:xfrm>
          <a:prstGeom prst="line">
            <a:avLst/>
          </a:prstGeom>
          <a:noFill/>
          <a:ln w="12700">
            <a:solidFill>
              <a:srgbClr val="DDE1E6"/>
            </a:solidFill>
            <a:prstDash val="solid"/>
          </a:ln>
        </p:spPr>
        <p:txBody>
          <a:bodyPr/>
          <a:lstStyle/>
          <a:p>
            <a:endParaRPr lang="en-US"/>
          </a:p>
        </p:txBody>
      </p:sp>
      <p:sp>
        <p:nvSpPr>
          <p:cNvPr id="15" name="Shape 13"/>
          <p:cNvSpPr/>
          <p:nvPr/>
        </p:nvSpPr>
        <p:spPr>
          <a:xfrm>
            <a:off x="685800" y="4389120"/>
            <a:ext cx="3413760" cy="1783080"/>
          </a:xfrm>
          <a:prstGeom prst="roundRect">
            <a:avLst>
              <a:gd name="adj" fmla="val 2051"/>
            </a:avLst>
          </a:prstGeom>
          <a:solidFill>
            <a:srgbClr val="F1F3F5"/>
          </a:solidFill>
          <a:ln w="12700">
            <a:solidFill>
              <a:srgbClr val="F1F3F5"/>
            </a:solidFill>
            <a:prstDash val="solid"/>
          </a:ln>
        </p:spPr>
        <p:txBody>
          <a:bodyPr/>
          <a:lstStyle/>
          <a:p>
            <a:endParaRPr lang="en-US"/>
          </a:p>
        </p:txBody>
      </p:sp>
      <p:sp>
        <p:nvSpPr>
          <p:cNvPr id="16" name="Text 14"/>
          <p:cNvSpPr/>
          <p:nvPr/>
        </p:nvSpPr>
        <p:spPr>
          <a:xfrm>
            <a:off x="941832" y="4590288"/>
            <a:ext cx="290169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Genuinely relational</a:t>
            </a:r>
            <a:endParaRPr lang="en-US" sz="1400" dirty="0"/>
          </a:p>
        </p:txBody>
      </p:sp>
      <p:sp>
        <p:nvSpPr>
          <p:cNvPr id="17" name="Text 15"/>
          <p:cNvSpPr/>
          <p:nvPr/>
        </p:nvSpPr>
        <p:spPr>
          <a:xfrm>
            <a:off x="941832" y="4937760"/>
            <a:ext cx="2901696" cy="10332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Nodes, directed edges, a wide attribute vector and an outcome map onto entities and relationships without contortion.</a:t>
            </a:r>
            <a:endParaRPr lang="en-US" sz="1200" dirty="0"/>
          </a:p>
        </p:txBody>
      </p:sp>
      <p:sp>
        <p:nvSpPr>
          <p:cNvPr id="18" name="Shape 16"/>
          <p:cNvSpPr/>
          <p:nvPr/>
        </p:nvSpPr>
        <p:spPr>
          <a:xfrm>
            <a:off x="4373880" y="4389120"/>
            <a:ext cx="3413760" cy="1783080"/>
          </a:xfrm>
          <a:prstGeom prst="roundRect">
            <a:avLst>
              <a:gd name="adj" fmla="val 2051"/>
            </a:avLst>
          </a:prstGeom>
          <a:solidFill>
            <a:srgbClr val="F1F3F5"/>
          </a:solidFill>
          <a:ln w="12700">
            <a:solidFill>
              <a:srgbClr val="F1F3F5"/>
            </a:solidFill>
            <a:prstDash val="solid"/>
          </a:ln>
        </p:spPr>
        <p:txBody>
          <a:bodyPr/>
          <a:lstStyle/>
          <a:p>
            <a:endParaRPr lang="en-US"/>
          </a:p>
        </p:txBody>
      </p:sp>
      <p:sp>
        <p:nvSpPr>
          <p:cNvPr id="19" name="Text 17"/>
          <p:cNvSpPr/>
          <p:nvPr/>
        </p:nvSpPr>
        <p:spPr>
          <a:xfrm>
            <a:off x="4629912" y="4590288"/>
            <a:ext cx="290169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The graph is the point</a:t>
            </a:r>
            <a:endParaRPr lang="en-US" sz="1400" dirty="0"/>
          </a:p>
        </p:txBody>
      </p:sp>
      <p:sp>
        <p:nvSpPr>
          <p:cNvPr id="20" name="Text 18"/>
          <p:cNvSpPr/>
          <p:nvPr/>
        </p:nvSpPr>
        <p:spPr>
          <a:xfrm>
            <a:off x="4629912" y="4937760"/>
            <a:ext cx="2901696" cy="10332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Laundering is defined by movement. The edge table is what makes provenance tracing and exposure scoring expressible in SQL.</a:t>
            </a:r>
            <a:endParaRPr lang="en-US" sz="1200" dirty="0"/>
          </a:p>
        </p:txBody>
      </p:sp>
      <p:sp>
        <p:nvSpPr>
          <p:cNvPr id="21" name="Shape 19"/>
          <p:cNvSpPr/>
          <p:nvPr/>
        </p:nvSpPr>
        <p:spPr>
          <a:xfrm>
            <a:off x="8061960" y="4389120"/>
            <a:ext cx="3413760" cy="1783080"/>
          </a:xfrm>
          <a:prstGeom prst="roundRect">
            <a:avLst>
              <a:gd name="adj" fmla="val 2051"/>
            </a:avLst>
          </a:prstGeom>
          <a:solidFill>
            <a:srgbClr val="F1F3F5"/>
          </a:solidFill>
          <a:ln w="12700">
            <a:solidFill>
              <a:srgbClr val="F1F3F5"/>
            </a:solidFill>
            <a:prstDash val="solid"/>
          </a:ln>
        </p:spPr>
        <p:txBody>
          <a:bodyPr/>
          <a:lstStyle/>
          <a:p>
            <a:endParaRPr lang="en-US"/>
          </a:p>
        </p:txBody>
      </p:sp>
      <p:sp>
        <p:nvSpPr>
          <p:cNvPr id="22" name="Text 20"/>
          <p:cNvSpPr/>
          <p:nvPr/>
        </p:nvSpPr>
        <p:spPr>
          <a:xfrm>
            <a:off x="8317992" y="4590288"/>
            <a:ext cx="290169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Real time axis</a:t>
            </a:r>
            <a:endParaRPr lang="en-US" sz="1400" dirty="0"/>
          </a:p>
        </p:txBody>
      </p:sp>
      <p:sp>
        <p:nvSpPr>
          <p:cNvPr id="23" name="Text 21"/>
          <p:cNvSpPr/>
          <p:nvPr/>
        </p:nvSpPr>
        <p:spPr>
          <a:xfrm>
            <a:off x="8317992" y="4937760"/>
            <a:ext cx="2901696" cy="103327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49 ordered periods support period-over-period risk profiling and a train/test split by time rather than at random.</a:t>
            </a:r>
            <a:endParaRPr lang="en-US" sz="1200" dirty="0"/>
          </a:p>
        </p:txBody>
      </p:sp>
      <p:sp>
        <p:nvSpPr>
          <p:cNvPr id="24" name="Text 22"/>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THE RAW DATA</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Three files, one of them hostile</a:t>
            </a:r>
            <a:endParaRPr lang="en-US" sz="3000" dirty="0"/>
          </a:p>
        </p:txBody>
      </p:sp>
      <p:sp>
        <p:nvSpPr>
          <p:cNvPr id="5" name="Shape 3"/>
          <p:cNvSpPr/>
          <p:nvPr/>
        </p:nvSpPr>
        <p:spPr>
          <a:xfrm>
            <a:off x="685800" y="1645920"/>
            <a:ext cx="5577840" cy="1965960"/>
          </a:xfrm>
          <a:prstGeom prst="roundRect">
            <a:avLst>
              <a:gd name="adj" fmla="val 1395"/>
            </a:avLst>
          </a:prstGeom>
          <a:solidFill>
            <a:srgbClr val="15181D"/>
          </a:solidFill>
          <a:ln w="12700">
            <a:solidFill>
              <a:srgbClr val="15181D"/>
            </a:solidFill>
            <a:prstDash val="solid"/>
          </a:ln>
        </p:spPr>
        <p:txBody>
          <a:bodyPr/>
          <a:lstStyle/>
          <a:p>
            <a:endParaRPr lang="en-US"/>
          </a:p>
        </p:txBody>
      </p:sp>
      <p:sp>
        <p:nvSpPr>
          <p:cNvPr id="6" name="Text 4"/>
          <p:cNvSpPr/>
          <p:nvPr/>
        </p:nvSpPr>
        <p:spPr>
          <a:xfrm>
            <a:off x="886968" y="1810512"/>
            <a:ext cx="5175504" cy="163677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elliptic_txs_classes.csv     txId,class</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230425980,unknown</a:t>
            </a:r>
            <a:endParaRPr lang="en-US" sz="1050" dirty="0"/>
          </a:p>
          <a:p>
            <a:pPr marL="0" indent="0">
              <a:lnSpc>
                <a:spcPts val="1500"/>
              </a:lnSpc>
              <a:buNone/>
            </a:pP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elliptic_txs_edgelist.csv    txId1,txId2</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230425980,5530458</a:t>
            </a:r>
            <a:endParaRPr lang="en-US" sz="1050" dirty="0"/>
          </a:p>
          <a:p>
            <a:pPr marL="0" indent="0">
              <a:lnSpc>
                <a:spcPts val="1500"/>
              </a:lnSpc>
              <a:buNone/>
            </a:pP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elliptic_txs_features.csv    230425980,1,-0.1714692,...</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(no header row)</a:t>
            </a:r>
            <a:endParaRPr lang="en-US" sz="1050" dirty="0"/>
          </a:p>
        </p:txBody>
      </p:sp>
      <p:sp>
        <p:nvSpPr>
          <p:cNvPr id="7" name="Shape 5"/>
          <p:cNvSpPr/>
          <p:nvPr/>
        </p:nvSpPr>
        <p:spPr>
          <a:xfrm>
            <a:off x="6629400" y="1645920"/>
            <a:ext cx="4846320" cy="292608"/>
          </a:xfrm>
          <a:prstGeom prst="rect">
            <a:avLst/>
          </a:prstGeom>
          <a:solidFill>
            <a:srgbClr val="F1F3F5"/>
          </a:solidFill>
          <a:ln w="12700">
            <a:solidFill>
              <a:srgbClr val="F1F3F5"/>
            </a:solidFill>
            <a:prstDash val="solid"/>
          </a:ln>
        </p:spPr>
        <p:txBody>
          <a:bodyPr/>
          <a:lstStyle/>
          <a:p>
            <a:endParaRPr lang="en-US"/>
          </a:p>
        </p:txBody>
      </p:sp>
      <p:sp>
        <p:nvSpPr>
          <p:cNvPr id="8" name="Text 6"/>
          <p:cNvSpPr/>
          <p:nvPr/>
        </p:nvSpPr>
        <p:spPr>
          <a:xfrm>
            <a:off x="6775704" y="1645920"/>
            <a:ext cx="2194560" cy="292608"/>
          </a:xfrm>
          <a:prstGeom prst="rect">
            <a:avLst/>
          </a:prstGeom>
          <a:noFill/>
          <a:ln/>
        </p:spPr>
        <p:txBody>
          <a:bodyPr wrap="square" lIns="0" tIns="0" rIns="0" bIns="0" rtlCol="0" anchor="ctr"/>
          <a:lstStyle/>
          <a:p>
            <a:pPr marL="0" indent="0" algn="l">
              <a:buNone/>
            </a:pPr>
            <a:r>
              <a:rPr lang="en-US" sz="1100" b="1" dirty="0">
                <a:solidFill>
                  <a:srgbClr val="15181D"/>
                </a:solidFill>
                <a:latin typeface="Calibri" pitchFamily="34" charset="0"/>
                <a:ea typeface="Calibri" pitchFamily="34" charset="-122"/>
                <a:cs typeface="Calibri" pitchFamily="34" charset="-120"/>
              </a:rPr>
              <a:t>File</a:t>
            </a:r>
            <a:endParaRPr lang="en-US" sz="1100" dirty="0"/>
          </a:p>
        </p:txBody>
      </p:sp>
      <p:sp>
        <p:nvSpPr>
          <p:cNvPr id="9" name="Text 7"/>
          <p:cNvSpPr/>
          <p:nvPr/>
        </p:nvSpPr>
        <p:spPr>
          <a:xfrm>
            <a:off x="8970264" y="1645920"/>
            <a:ext cx="155448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Rows</a:t>
            </a:r>
            <a:endParaRPr lang="en-US" sz="1100" dirty="0"/>
          </a:p>
        </p:txBody>
      </p:sp>
      <p:sp>
        <p:nvSpPr>
          <p:cNvPr id="10" name="Text 8"/>
          <p:cNvSpPr/>
          <p:nvPr/>
        </p:nvSpPr>
        <p:spPr>
          <a:xfrm>
            <a:off x="10524744" y="1645920"/>
            <a:ext cx="91440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Cols</a:t>
            </a:r>
            <a:endParaRPr lang="en-US" sz="1100" dirty="0"/>
          </a:p>
        </p:txBody>
      </p:sp>
      <p:sp>
        <p:nvSpPr>
          <p:cNvPr id="11" name="Shape 9"/>
          <p:cNvSpPr/>
          <p:nvPr/>
        </p:nvSpPr>
        <p:spPr>
          <a:xfrm>
            <a:off x="6629400" y="2231136"/>
            <a:ext cx="4846320" cy="0"/>
          </a:xfrm>
          <a:prstGeom prst="line">
            <a:avLst/>
          </a:prstGeom>
          <a:noFill/>
          <a:ln w="9525">
            <a:solidFill>
              <a:srgbClr val="DDE1E6"/>
            </a:solidFill>
            <a:prstDash val="solid"/>
          </a:ln>
        </p:spPr>
        <p:txBody>
          <a:bodyPr/>
          <a:lstStyle/>
          <a:p>
            <a:endParaRPr lang="en-US"/>
          </a:p>
        </p:txBody>
      </p:sp>
      <p:sp>
        <p:nvSpPr>
          <p:cNvPr id="12" name="Text 10"/>
          <p:cNvSpPr/>
          <p:nvPr/>
        </p:nvSpPr>
        <p:spPr>
          <a:xfrm>
            <a:off x="6775704" y="1938528"/>
            <a:ext cx="219456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classes</a:t>
            </a:r>
            <a:endParaRPr lang="en-US" sz="1100" dirty="0"/>
          </a:p>
        </p:txBody>
      </p:sp>
      <p:sp>
        <p:nvSpPr>
          <p:cNvPr id="13" name="Text 11"/>
          <p:cNvSpPr/>
          <p:nvPr/>
        </p:nvSpPr>
        <p:spPr>
          <a:xfrm>
            <a:off x="8970264" y="1938528"/>
            <a:ext cx="155448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203,769</a:t>
            </a:r>
            <a:endParaRPr lang="en-US" sz="1100" dirty="0"/>
          </a:p>
        </p:txBody>
      </p:sp>
      <p:sp>
        <p:nvSpPr>
          <p:cNvPr id="14" name="Text 12"/>
          <p:cNvSpPr/>
          <p:nvPr/>
        </p:nvSpPr>
        <p:spPr>
          <a:xfrm>
            <a:off x="10524744" y="1938528"/>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a:t>
            </a:r>
            <a:endParaRPr lang="en-US" sz="1100" dirty="0"/>
          </a:p>
        </p:txBody>
      </p:sp>
      <p:sp>
        <p:nvSpPr>
          <p:cNvPr id="15" name="Shape 13"/>
          <p:cNvSpPr/>
          <p:nvPr/>
        </p:nvSpPr>
        <p:spPr>
          <a:xfrm>
            <a:off x="6629400" y="2523744"/>
            <a:ext cx="4846320" cy="0"/>
          </a:xfrm>
          <a:prstGeom prst="line">
            <a:avLst/>
          </a:prstGeom>
          <a:noFill/>
          <a:ln w="9525">
            <a:solidFill>
              <a:srgbClr val="DDE1E6"/>
            </a:solidFill>
            <a:prstDash val="solid"/>
          </a:ln>
        </p:spPr>
        <p:txBody>
          <a:bodyPr/>
          <a:lstStyle/>
          <a:p>
            <a:endParaRPr lang="en-US"/>
          </a:p>
        </p:txBody>
      </p:sp>
      <p:sp>
        <p:nvSpPr>
          <p:cNvPr id="16" name="Text 14"/>
          <p:cNvSpPr/>
          <p:nvPr/>
        </p:nvSpPr>
        <p:spPr>
          <a:xfrm>
            <a:off x="6775704" y="2231136"/>
            <a:ext cx="219456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edgelist</a:t>
            </a:r>
            <a:endParaRPr lang="en-US" sz="1100" dirty="0"/>
          </a:p>
        </p:txBody>
      </p:sp>
      <p:sp>
        <p:nvSpPr>
          <p:cNvPr id="17" name="Text 15"/>
          <p:cNvSpPr/>
          <p:nvPr/>
        </p:nvSpPr>
        <p:spPr>
          <a:xfrm>
            <a:off x="8970264" y="2231136"/>
            <a:ext cx="155448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234,355</a:t>
            </a:r>
            <a:endParaRPr lang="en-US" sz="1100" dirty="0"/>
          </a:p>
        </p:txBody>
      </p:sp>
      <p:sp>
        <p:nvSpPr>
          <p:cNvPr id="18" name="Text 16"/>
          <p:cNvSpPr/>
          <p:nvPr/>
        </p:nvSpPr>
        <p:spPr>
          <a:xfrm>
            <a:off x="10524744" y="2231136"/>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a:t>
            </a:r>
            <a:endParaRPr lang="en-US" sz="1100" dirty="0"/>
          </a:p>
        </p:txBody>
      </p:sp>
      <p:sp>
        <p:nvSpPr>
          <p:cNvPr id="19" name="Shape 17"/>
          <p:cNvSpPr/>
          <p:nvPr/>
        </p:nvSpPr>
        <p:spPr>
          <a:xfrm>
            <a:off x="6629400" y="2816352"/>
            <a:ext cx="4846320" cy="0"/>
          </a:xfrm>
          <a:prstGeom prst="line">
            <a:avLst/>
          </a:prstGeom>
          <a:noFill/>
          <a:ln w="9525">
            <a:solidFill>
              <a:srgbClr val="DDE1E6"/>
            </a:solidFill>
            <a:prstDash val="solid"/>
          </a:ln>
        </p:spPr>
        <p:txBody>
          <a:bodyPr/>
          <a:lstStyle/>
          <a:p>
            <a:endParaRPr lang="en-US"/>
          </a:p>
        </p:txBody>
      </p:sp>
      <p:sp>
        <p:nvSpPr>
          <p:cNvPr id="20" name="Text 18"/>
          <p:cNvSpPr/>
          <p:nvPr/>
        </p:nvSpPr>
        <p:spPr>
          <a:xfrm>
            <a:off x="6775704" y="2523744"/>
            <a:ext cx="219456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features</a:t>
            </a:r>
            <a:endParaRPr lang="en-US" sz="1100" dirty="0"/>
          </a:p>
        </p:txBody>
      </p:sp>
      <p:sp>
        <p:nvSpPr>
          <p:cNvPr id="21" name="Text 19"/>
          <p:cNvSpPr/>
          <p:nvPr/>
        </p:nvSpPr>
        <p:spPr>
          <a:xfrm>
            <a:off x="8970264" y="2523744"/>
            <a:ext cx="155448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203,769</a:t>
            </a:r>
            <a:endParaRPr lang="en-US" sz="1100" dirty="0"/>
          </a:p>
        </p:txBody>
      </p:sp>
      <p:sp>
        <p:nvSpPr>
          <p:cNvPr id="22" name="Text 20"/>
          <p:cNvSpPr/>
          <p:nvPr/>
        </p:nvSpPr>
        <p:spPr>
          <a:xfrm>
            <a:off x="10524744" y="2523744"/>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167</a:t>
            </a:r>
            <a:endParaRPr lang="en-US" sz="1100" dirty="0"/>
          </a:p>
        </p:txBody>
      </p:sp>
      <p:sp>
        <p:nvSpPr>
          <p:cNvPr id="23" name="Text 21"/>
          <p:cNvSpPr/>
          <p:nvPr/>
        </p:nvSpPr>
        <p:spPr>
          <a:xfrm>
            <a:off x="6629400" y="2971800"/>
            <a:ext cx="4846320" cy="82296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The feature file ships with no header row and 167 unnamed columns. Nothing can be loaded until a schema is declared for it — which is why the schema is generated from a single constant rather than typed by hand.</a:t>
            </a:r>
            <a:endParaRPr lang="en-US" sz="1200" dirty="0"/>
          </a:p>
        </p:txBody>
      </p:sp>
      <p:sp>
        <p:nvSpPr>
          <p:cNvPr id="24" name="Text 22"/>
          <p:cNvSpPr/>
          <p:nvPr/>
        </p:nvSpPr>
        <p:spPr>
          <a:xfrm>
            <a:off x="685800" y="3977640"/>
            <a:ext cx="10789920" cy="274320"/>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Column layout of the feature file</a:t>
            </a:r>
            <a:endParaRPr lang="en-US" sz="1400" dirty="0"/>
          </a:p>
        </p:txBody>
      </p:sp>
      <p:sp>
        <p:nvSpPr>
          <p:cNvPr id="25" name="Shape 23"/>
          <p:cNvSpPr/>
          <p:nvPr/>
        </p:nvSpPr>
        <p:spPr>
          <a:xfrm>
            <a:off x="685800" y="4361688"/>
            <a:ext cx="960120" cy="475488"/>
          </a:xfrm>
          <a:prstGeom prst="rect">
            <a:avLst/>
          </a:prstGeom>
          <a:solidFill>
            <a:srgbClr val="6E7A88"/>
          </a:solidFill>
          <a:ln w="19050">
            <a:solidFill>
              <a:srgbClr val="FFFFFF"/>
            </a:solidFill>
            <a:prstDash val="solid"/>
          </a:ln>
        </p:spPr>
        <p:txBody>
          <a:bodyPr/>
          <a:lstStyle/>
          <a:p>
            <a:endParaRPr lang="en-US"/>
          </a:p>
        </p:txBody>
      </p:sp>
      <p:sp>
        <p:nvSpPr>
          <p:cNvPr id="26" name="Text 24"/>
          <p:cNvSpPr/>
          <p:nvPr/>
        </p:nvSpPr>
        <p:spPr>
          <a:xfrm>
            <a:off x="685800" y="4361688"/>
            <a:ext cx="960120" cy="47548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txId</a:t>
            </a:r>
            <a:endParaRPr lang="en-US" sz="1100" dirty="0"/>
          </a:p>
        </p:txBody>
      </p:sp>
      <p:sp>
        <p:nvSpPr>
          <p:cNvPr id="27" name="Shape 25"/>
          <p:cNvSpPr/>
          <p:nvPr/>
        </p:nvSpPr>
        <p:spPr>
          <a:xfrm>
            <a:off x="1645920" y="4361688"/>
            <a:ext cx="1280160" cy="475488"/>
          </a:xfrm>
          <a:prstGeom prst="rect">
            <a:avLst/>
          </a:prstGeom>
          <a:solidFill>
            <a:srgbClr val="6E7A88"/>
          </a:solidFill>
          <a:ln w="19050">
            <a:solidFill>
              <a:srgbClr val="FFFFFF"/>
            </a:solidFill>
            <a:prstDash val="solid"/>
          </a:ln>
        </p:spPr>
        <p:txBody>
          <a:bodyPr/>
          <a:lstStyle/>
          <a:p>
            <a:endParaRPr lang="en-US"/>
          </a:p>
        </p:txBody>
      </p:sp>
      <p:sp>
        <p:nvSpPr>
          <p:cNvPr id="28" name="Text 26"/>
          <p:cNvSpPr/>
          <p:nvPr/>
        </p:nvSpPr>
        <p:spPr>
          <a:xfrm>
            <a:off x="1645920" y="4361688"/>
            <a:ext cx="1280160" cy="47548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time step</a:t>
            </a:r>
            <a:endParaRPr lang="en-US" sz="1100" dirty="0"/>
          </a:p>
        </p:txBody>
      </p:sp>
      <p:sp>
        <p:nvSpPr>
          <p:cNvPr id="29" name="Shape 27"/>
          <p:cNvSpPr/>
          <p:nvPr/>
        </p:nvSpPr>
        <p:spPr>
          <a:xfrm>
            <a:off x="2926080" y="4361688"/>
            <a:ext cx="4206240" cy="475488"/>
          </a:xfrm>
          <a:prstGeom prst="rect">
            <a:avLst/>
          </a:prstGeom>
          <a:solidFill>
            <a:srgbClr val="48586B"/>
          </a:solidFill>
          <a:ln w="19050">
            <a:solidFill>
              <a:srgbClr val="FFFFFF"/>
            </a:solidFill>
            <a:prstDash val="solid"/>
          </a:ln>
        </p:spPr>
        <p:txBody>
          <a:bodyPr/>
          <a:lstStyle/>
          <a:p>
            <a:endParaRPr lang="en-US"/>
          </a:p>
        </p:txBody>
      </p:sp>
      <p:sp>
        <p:nvSpPr>
          <p:cNvPr id="30" name="Text 28"/>
          <p:cNvSpPr/>
          <p:nvPr/>
        </p:nvSpPr>
        <p:spPr>
          <a:xfrm>
            <a:off x="2926080" y="4361688"/>
            <a:ext cx="4206240" cy="47548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93 local features</a:t>
            </a:r>
            <a:endParaRPr lang="en-US" sz="1100" dirty="0"/>
          </a:p>
        </p:txBody>
      </p:sp>
      <p:sp>
        <p:nvSpPr>
          <p:cNvPr id="31" name="Shape 29"/>
          <p:cNvSpPr/>
          <p:nvPr/>
        </p:nvSpPr>
        <p:spPr>
          <a:xfrm>
            <a:off x="7132320" y="4361688"/>
            <a:ext cx="3794760" cy="475488"/>
          </a:xfrm>
          <a:prstGeom prst="rect">
            <a:avLst/>
          </a:prstGeom>
          <a:solidFill>
            <a:srgbClr val="C8322B"/>
          </a:solidFill>
          <a:ln w="19050">
            <a:solidFill>
              <a:srgbClr val="FFFFFF"/>
            </a:solidFill>
            <a:prstDash val="solid"/>
          </a:ln>
        </p:spPr>
        <p:txBody>
          <a:bodyPr/>
          <a:lstStyle/>
          <a:p>
            <a:endParaRPr lang="en-US"/>
          </a:p>
        </p:txBody>
      </p:sp>
      <p:sp>
        <p:nvSpPr>
          <p:cNvPr id="32" name="Text 30"/>
          <p:cNvSpPr/>
          <p:nvPr/>
        </p:nvSpPr>
        <p:spPr>
          <a:xfrm>
            <a:off x="7132320" y="4361688"/>
            <a:ext cx="3794760" cy="47548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72 aggregate features</a:t>
            </a:r>
            <a:endParaRPr lang="en-US" sz="1100" dirty="0"/>
          </a:p>
        </p:txBody>
      </p:sp>
      <p:sp>
        <p:nvSpPr>
          <p:cNvPr id="33" name="Text 31"/>
          <p:cNvSpPr/>
          <p:nvPr/>
        </p:nvSpPr>
        <p:spPr>
          <a:xfrm>
            <a:off x="685800" y="5001768"/>
            <a:ext cx="10789920" cy="68580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Local features describe the transaction itself. Aggregate features are statistics over its immediate neighbours — the publisher pre-computed one hop of the graph, which is a hint that neighbourhood structure carries signal.</a:t>
            </a:r>
            <a:endParaRPr lang="en-US" sz="1200" dirty="0"/>
          </a:p>
        </p:txBody>
      </p:sp>
      <p:sp>
        <p:nvSpPr>
          <p:cNvPr id="34" name="Text 32"/>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 CLEANING</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The data was already tidy — so cleaning meant something else</a:t>
            </a:r>
            <a:endParaRPr lang="en-US" sz="3000" dirty="0"/>
          </a:p>
        </p:txBody>
      </p:sp>
      <p:sp>
        <p:nvSpPr>
          <p:cNvPr id="5" name="Shape 3"/>
          <p:cNvSpPr/>
          <p:nvPr/>
        </p:nvSpPr>
        <p:spPr>
          <a:xfrm>
            <a:off x="685800" y="1645920"/>
            <a:ext cx="5029200" cy="2286000"/>
          </a:xfrm>
          <a:prstGeom prst="roundRect">
            <a:avLst>
              <a:gd name="adj" fmla="val 1200"/>
            </a:avLst>
          </a:prstGeom>
          <a:solidFill>
            <a:srgbClr val="F1F3F5"/>
          </a:solidFill>
          <a:ln w="12700">
            <a:solidFill>
              <a:srgbClr val="F1F3F5"/>
            </a:solidFill>
            <a:prstDash val="solid"/>
          </a:ln>
        </p:spPr>
        <p:txBody>
          <a:bodyPr/>
          <a:lstStyle/>
          <a:p>
            <a:endParaRPr lang="en-US"/>
          </a:p>
        </p:txBody>
      </p:sp>
      <p:sp>
        <p:nvSpPr>
          <p:cNvPr id="6" name="Text 4"/>
          <p:cNvSpPr/>
          <p:nvPr/>
        </p:nvSpPr>
        <p:spPr>
          <a:xfrm>
            <a:off x="960120" y="1810512"/>
            <a:ext cx="4480560" cy="274320"/>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Profiled before assuming</a:t>
            </a:r>
            <a:endParaRPr lang="en-US" sz="1400" dirty="0"/>
          </a:p>
        </p:txBody>
      </p:sp>
      <p:sp>
        <p:nvSpPr>
          <p:cNvPr id="7" name="Text 5"/>
          <p:cNvSpPr/>
          <p:nvPr/>
        </p:nvSpPr>
        <p:spPr>
          <a:xfrm>
            <a:off x="960120" y="2176272"/>
            <a:ext cx="4480560" cy="160020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Null values            0</a:t>
            </a:r>
            <a:endParaRPr lang="en-US" sz="1150" dirty="0"/>
          </a:p>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Duplicate txIds        0</a:t>
            </a:r>
            <a:endParaRPr lang="en-US" sz="1150" dirty="0"/>
          </a:p>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Orphan edge endpoints  0</a:t>
            </a:r>
            <a:endParaRPr lang="en-US" sz="1150" dirty="0"/>
          </a:p>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Self-loops             0</a:t>
            </a:r>
            <a:endParaRPr lang="en-US" sz="1150" dirty="0"/>
          </a:p>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Cross-period edges     0</a:t>
            </a:r>
            <a:endParaRPr lang="en-US" sz="1150" dirty="0"/>
          </a:p>
          <a:p>
            <a:pPr marL="0" indent="0">
              <a:lnSpc>
                <a:spcPts val="1700"/>
              </a:lnSpc>
              <a:buNone/>
            </a:pPr>
            <a:r>
              <a:rPr lang="en-US" sz="1150" dirty="0">
                <a:solidFill>
                  <a:srgbClr val="48586B"/>
                </a:solidFill>
                <a:latin typeface="Courier New" pitchFamily="34" charset="0"/>
                <a:ea typeface="Courier New" pitchFamily="34" charset="-122"/>
                <a:cs typeface="Courier New" pitchFamily="34" charset="-120"/>
              </a:rPr>
              <a:t>Local features         already z-normalised</a:t>
            </a:r>
            <a:endParaRPr lang="en-US" sz="1150" dirty="0"/>
          </a:p>
        </p:txBody>
      </p:sp>
      <p:sp>
        <p:nvSpPr>
          <p:cNvPr id="8" name="Text 6"/>
          <p:cNvSpPr/>
          <p:nvPr/>
        </p:nvSpPr>
        <p:spPr>
          <a:xfrm>
            <a:off x="6080760" y="1645920"/>
            <a:ext cx="5394960" cy="868680"/>
          </a:xfrm>
          <a:prstGeom prst="rect">
            <a:avLst/>
          </a:prstGeom>
          <a:noFill/>
          <a:ln/>
        </p:spPr>
        <p:txBody>
          <a:bodyPr wrap="square" lIns="0" tIns="0" rIns="0" bIns="0" rtlCol="0" anchor="ctr"/>
          <a:lstStyle/>
          <a:p>
            <a:pPr marL="0" indent="0">
              <a:lnSpc>
                <a:spcPts val="1900"/>
              </a:lnSpc>
              <a:buNone/>
            </a:pPr>
            <a:r>
              <a:rPr lang="en-US" sz="1300" dirty="0">
                <a:solidFill>
                  <a:srgbClr val="48586B"/>
                </a:solidFill>
                <a:latin typeface="Calibri" pitchFamily="34" charset="0"/>
                <a:ea typeface="Calibri" pitchFamily="34" charset="-122"/>
                <a:cs typeface="Calibri" pitchFamily="34" charset="-120"/>
              </a:rPr>
              <a:t>There were no nulls to impute and no duplicates to drop. Claiming otherwise would have been fiction. The real obstacles to loading this data were structural, and each one is a decision on the record:</a:t>
            </a:r>
            <a:endParaRPr lang="en-US" sz="1300" dirty="0"/>
          </a:p>
        </p:txBody>
      </p:sp>
      <p:sp>
        <p:nvSpPr>
          <p:cNvPr id="9" name="Shape 7"/>
          <p:cNvSpPr/>
          <p:nvPr/>
        </p:nvSpPr>
        <p:spPr>
          <a:xfrm>
            <a:off x="6080760" y="2688336"/>
            <a:ext cx="73152" cy="73152"/>
          </a:xfrm>
          <a:prstGeom prst="rect">
            <a:avLst/>
          </a:prstGeom>
          <a:solidFill>
            <a:srgbClr val="C8322B"/>
          </a:solidFill>
          <a:ln/>
        </p:spPr>
        <p:txBody>
          <a:bodyPr/>
          <a:lstStyle/>
          <a:p>
            <a:endParaRPr lang="en-US"/>
          </a:p>
        </p:txBody>
      </p:sp>
      <p:sp>
        <p:nvSpPr>
          <p:cNvPr id="10" name="Text 8"/>
          <p:cNvSpPr/>
          <p:nvPr/>
        </p:nvSpPr>
        <p:spPr>
          <a:xfrm>
            <a:off x="6291072" y="2606040"/>
            <a:ext cx="5212080" cy="237744"/>
          </a:xfrm>
          <a:prstGeom prst="rect">
            <a:avLst/>
          </a:prstGeom>
          <a:noFill/>
          <a:ln/>
        </p:spPr>
        <p:txBody>
          <a:bodyPr wrap="square" lIns="0" tIns="0" rIns="0" bIns="0" rtlCol="0" anchor="ctr"/>
          <a:lstStyle/>
          <a:p>
            <a:pPr marL="0" indent="0">
              <a:buNone/>
            </a:pPr>
            <a:r>
              <a:rPr lang="en-US" sz="1250" b="1" dirty="0">
                <a:solidFill>
                  <a:srgbClr val="15181D"/>
                </a:solidFill>
                <a:latin typeface="Calibri" pitchFamily="34" charset="0"/>
                <a:ea typeface="Calibri" pitchFamily="34" charset="-122"/>
                <a:cs typeface="Calibri" pitchFamily="34" charset="-120"/>
              </a:rPr>
              <a:t>167 unnamed columns</a:t>
            </a:r>
            <a:endParaRPr lang="en-US" sz="1250" dirty="0"/>
          </a:p>
        </p:txBody>
      </p:sp>
      <p:sp>
        <p:nvSpPr>
          <p:cNvPr id="11" name="Text 9"/>
          <p:cNvSpPr/>
          <p:nvPr/>
        </p:nvSpPr>
        <p:spPr>
          <a:xfrm>
            <a:off x="6291072" y="2843784"/>
            <a:ext cx="5212080" cy="457200"/>
          </a:xfrm>
          <a:prstGeom prst="rect">
            <a:avLst/>
          </a:prstGeom>
          <a:noFill/>
          <a:ln/>
        </p:spPr>
        <p:txBody>
          <a:bodyPr wrap="square" lIns="0" tIns="0" rIns="0" bIns="0" rtlCol="0" anchor="ctr"/>
          <a:lstStyle/>
          <a:p>
            <a:pPr marL="0" indent="0">
              <a:lnSpc>
                <a:spcPts val="1600"/>
              </a:lnSpc>
              <a:buNone/>
            </a:pPr>
            <a:r>
              <a:rPr lang="en-US" sz="1150" dirty="0">
                <a:solidFill>
                  <a:srgbClr val="6E7A88"/>
                </a:solidFill>
                <a:latin typeface="Calibri" pitchFamily="34" charset="0"/>
                <a:ea typeface="Calibri" pitchFamily="34" charset="-122"/>
                <a:cs typeface="Calibri" pitchFamily="34" charset="-120"/>
              </a:rPr>
              <a:t>schema declared from one constant, so core, staging and the COPY list cannot drift</a:t>
            </a:r>
            <a:endParaRPr lang="en-US" sz="1150" dirty="0"/>
          </a:p>
        </p:txBody>
      </p:sp>
      <p:sp>
        <p:nvSpPr>
          <p:cNvPr id="12" name="Shape 10"/>
          <p:cNvSpPr/>
          <p:nvPr/>
        </p:nvSpPr>
        <p:spPr>
          <a:xfrm>
            <a:off x="6080760" y="3474720"/>
            <a:ext cx="73152" cy="73152"/>
          </a:xfrm>
          <a:prstGeom prst="rect">
            <a:avLst/>
          </a:prstGeom>
          <a:solidFill>
            <a:srgbClr val="C8322B"/>
          </a:solidFill>
          <a:ln/>
        </p:spPr>
        <p:txBody>
          <a:bodyPr/>
          <a:lstStyle/>
          <a:p>
            <a:endParaRPr lang="en-US"/>
          </a:p>
        </p:txBody>
      </p:sp>
      <p:sp>
        <p:nvSpPr>
          <p:cNvPr id="13" name="Text 11"/>
          <p:cNvSpPr/>
          <p:nvPr/>
        </p:nvSpPr>
        <p:spPr>
          <a:xfrm>
            <a:off x="6291072" y="3392424"/>
            <a:ext cx="5212080" cy="237744"/>
          </a:xfrm>
          <a:prstGeom prst="rect">
            <a:avLst/>
          </a:prstGeom>
          <a:noFill/>
          <a:ln/>
        </p:spPr>
        <p:txBody>
          <a:bodyPr wrap="square" lIns="0" tIns="0" rIns="0" bIns="0" rtlCol="0" anchor="ctr"/>
          <a:lstStyle/>
          <a:p>
            <a:pPr marL="0" indent="0">
              <a:buNone/>
            </a:pPr>
            <a:r>
              <a:rPr lang="en-US" sz="1250" b="1" dirty="0">
                <a:solidFill>
                  <a:srgbClr val="15181D"/>
                </a:solidFill>
                <a:latin typeface="Calibri" pitchFamily="34" charset="0"/>
                <a:ea typeface="Calibri" pitchFamily="34" charset="-122"/>
                <a:cs typeface="Calibri" pitchFamily="34" charset="-120"/>
              </a:rPr>
              <a:t>class as mixed-type text</a:t>
            </a:r>
            <a:endParaRPr lang="en-US" sz="1250" dirty="0"/>
          </a:p>
        </p:txBody>
      </p:sp>
      <p:sp>
        <p:nvSpPr>
          <p:cNvPr id="14" name="Text 12"/>
          <p:cNvSpPr/>
          <p:nvPr/>
        </p:nvSpPr>
        <p:spPr>
          <a:xfrm>
            <a:off x="6291072" y="3630168"/>
            <a:ext cx="5212080" cy="457200"/>
          </a:xfrm>
          <a:prstGeom prst="rect">
            <a:avLst/>
          </a:prstGeom>
          <a:noFill/>
          <a:ln/>
        </p:spPr>
        <p:txBody>
          <a:bodyPr wrap="square" lIns="0" tIns="0" rIns="0" bIns="0" rtlCol="0" anchor="ctr"/>
          <a:lstStyle/>
          <a:p>
            <a:pPr marL="0" indent="0">
              <a:lnSpc>
                <a:spcPts val="1600"/>
              </a:lnSpc>
              <a:buNone/>
            </a:pPr>
            <a:r>
              <a:rPr lang="en-US" sz="1150" dirty="0">
                <a:solidFill>
                  <a:srgbClr val="6E7A88"/>
                </a:solidFill>
                <a:latin typeface="Calibri" pitchFamily="34" charset="0"/>
                <a:ea typeface="Calibri" pitchFamily="34" charset="-122"/>
                <a:cs typeface="Calibri" pitchFamily="34" charset="-120"/>
              </a:rPr>
              <a:t>'1' / '2' / 'unknown' recoded to a typed dimension</a:t>
            </a:r>
            <a:endParaRPr lang="en-US" sz="1150" dirty="0"/>
          </a:p>
        </p:txBody>
      </p:sp>
      <p:sp>
        <p:nvSpPr>
          <p:cNvPr id="15" name="Shape 13"/>
          <p:cNvSpPr/>
          <p:nvPr/>
        </p:nvSpPr>
        <p:spPr>
          <a:xfrm>
            <a:off x="6080760" y="4261104"/>
            <a:ext cx="73152" cy="73152"/>
          </a:xfrm>
          <a:prstGeom prst="rect">
            <a:avLst/>
          </a:prstGeom>
          <a:solidFill>
            <a:srgbClr val="C8322B"/>
          </a:solidFill>
          <a:ln/>
        </p:spPr>
        <p:txBody>
          <a:bodyPr/>
          <a:lstStyle/>
          <a:p>
            <a:endParaRPr lang="en-US"/>
          </a:p>
        </p:txBody>
      </p:sp>
      <p:sp>
        <p:nvSpPr>
          <p:cNvPr id="16" name="Text 14"/>
          <p:cNvSpPr/>
          <p:nvPr/>
        </p:nvSpPr>
        <p:spPr>
          <a:xfrm>
            <a:off x="6291072" y="4178808"/>
            <a:ext cx="5212080" cy="237744"/>
          </a:xfrm>
          <a:prstGeom prst="rect">
            <a:avLst/>
          </a:prstGeom>
          <a:noFill/>
          <a:ln/>
        </p:spPr>
        <p:txBody>
          <a:bodyPr wrap="square" lIns="0" tIns="0" rIns="0" bIns="0" rtlCol="0" anchor="ctr"/>
          <a:lstStyle/>
          <a:p>
            <a:pPr marL="0" indent="0">
              <a:buNone/>
            </a:pPr>
            <a:r>
              <a:rPr lang="en-US" sz="1250" b="1" dirty="0">
                <a:solidFill>
                  <a:srgbClr val="15181D"/>
                </a:solidFill>
                <a:latin typeface="Calibri" pitchFamily="34" charset="0"/>
                <a:ea typeface="Calibri" pitchFamily="34" charset="-122"/>
                <a:cs typeface="Calibri" pitchFamily="34" charset="-120"/>
              </a:rPr>
              <a:t>77% unlabelled</a:t>
            </a:r>
            <a:endParaRPr lang="en-US" sz="1250" dirty="0"/>
          </a:p>
        </p:txBody>
      </p:sp>
      <p:sp>
        <p:nvSpPr>
          <p:cNvPr id="17" name="Text 15"/>
          <p:cNvSpPr/>
          <p:nvPr/>
        </p:nvSpPr>
        <p:spPr>
          <a:xfrm>
            <a:off x="6291072" y="4416552"/>
            <a:ext cx="5212080" cy="457200"/>
          </a:xfrm>
          <a:prstGeom prst="rect">
            <a:avLst/>
          </a:prstGeom>
          <a:noFill/>
          <a:ln/>
        </p:spPr>
        <p:txBody>
          <a:bodyPr wrap="square" lIns="0" tIns="0" rIns="0" bIns="0" rtlCol="0" anchor="ctr"/>
          <a:lstStyle/>
          <a:p>
            <a:pPr marL="0" indent="0">
              <a:lnSpc>
                <a:spcPts val="1600"/>
              </a:lnSpc>
              <a:buNone/>
            </a:pPr>
            <a:r>
              <a:rPr lang="en-US" sz="1150" dirty="0">
                <a:solidFill>
                  <a:srgbClr val="6E7A88"/>
                </a:solidFill>
                <a:latin typeface="Calibri" pitchFamily="34" charset="0"/>
                <a:ea typeface="Calibri" pitchFamily="34" charset="-122"/>
                <a:cs typeface="Calibri" pitchFamily="34" charset="-120"/>
              </a:rPr>
              <a:t>kept in the graph, excluded from supervised scope — never coerced to licit</a:t>
            </a:r>
            <a:endParaRPr lang="en-US" sz="1150" dirty="0"/>
          </a:p>
        </p:txBody>
      </p:sp>
      <p:sp>
        <p:nvSpPr>
          <p:cNvPr id="18" name="Shape 16"/>
          <p:cNvSpPr/>
          <p:nvPr/>
        </p:nvSpPr>
        <p:spPr>
          <a:xfrm>
            <a:off x="6080760" y="5047488"/>
            <a:ext cx="73152" cy="73152"/>
          </a:xfrm>
          <a:prstGeom prst="rect">
            <a:avLst/>
          </a:prstGeom>
          <a:solidFill>
            <a:srgbClr val="C8322B"/>
          </a:solidFill>
          <a:ln/>
        </p:spPr>
        <p:txBody>
          <a:bodyPr/>
          <a:lstStyle/>
          <a:p>
            <a:endParaRPr lang="en-US"/>
          </a:p>
        </p:txBody>
      </p:sp>
      <p:sp>
        <p:nvSpPr>
          <p:cNvPr id="19" name="Text 17"/>
          <p:cNvSpPr/>
          <p:nvPr/>
        </p:nvSpPr>
        <p:spPr>
          <a:xfrm>
            <a:off x="6291072" y="4965192"/>
            <a:ext cx="5212080" cy="237744"/>
          </a:xfrm>
          <a:prstGeom prst="rect">
            <a:avLst/>
          </a:prstGeom>
          <a:noFill/>
          <a:ln/>
        </p:spPr>
        <p:txBody>
          <a:bodyPr wrap="square" lIns="0" tIns="0" rIns="0" bIns="0" rtlCol="0" anchor="ctr"/>
          <a:lstStyle/>
          <a:p>
            <a:pPr marL="0" indent="0">
              <a:buNone/>
            </a:pPr>
            <a:r>
              <a:rPr lang="en-US" sz="1250" b="1" dirty="0">
                <a:solidFill>
                  <a:srgbClr val="15181D"/>
                </a:solidFill>
                <a:latin typeface="Calibri" pitchFamily="34" charset="0"/>
                <a:ea typeface="Calibri" pitchFamily="34" charset="-122"/>
                <a:cs typeface="Calibri" pitchFamily="34" charset="-120"/>
              </a:rPr>
              <a:t>one 690 MB flat file</a:t>
            </a:r>
            <a:endParaRPr lang="en-US" sz="1250" dirty="0"/>
          </a:p>
        </p:txBody>
      </p:sp>
      <p:sp>
        <p:nvSpPr>
          <p:cNvPr id="20" name="Text 18"/>
          <p:cNvSpPr/>
          <p:nvPr/>
        </p:nvSpPr>
        <p:spPr>
          <a:xfrm>
            <a:off x="6291072" y="5202936"/>
            <a:ext cx="5212080" cy="457200"/>
          </a:xfrm>
          <a:prstGeom prst="rect">
            <a:avLst/>
          </a:prstGeom>
          <a:noFill/>
          <a:ln/>
        </p:spPr>
        <p:txBody>
          <a:bodyPr wrap="square" lIns="0" tIns="0" rIns="0" bIns="0" rtlCol="0" anchor="ctr"/>
          <a:lstStyle/>
          <a:p>
            <a:pPr marL="0" indent="0">
              <a:lnSpc>
                <a:spcPts val="1600"/>
              </a:lnSpc>
              <a:buNone/>
            </a:pPr>
            <a:r>
              <a:rPr lang="en-US" sz="1150" dirty="0">
                <a:solidFill>
                  <a:srgbClr val="6E7A88"/>
                </a:solidFill>
                <a:latin typeface="Calibri" pitchFamily="34" charset="0"/>
                <a:ea typeface="Calibri" pitchFamily="34" charset="-122"/>
                <a:cs typeface="Calibri" pitchFamily="34" charset="-120"/>
              </a:rPr>
              <a:t>decomposed into a normalised relational model</a:t>
            </a:r>
            <a:endParaRPr lang="en-US" sz="1150" dirty="0"/>
          </a:p>
        </p:txBody>
      </p:sp>
      <p:sp>
        <p:nvSpPr>
          <p:cNvPr id="21" name="Shape 19"/>
          <p:cNvSpPr/>
          <p:nvPr/>
        </p:nvSpPr>
        <p:spPr>
          <a:xfrm>
            <a:off x="685800" y="4251960"/>
            <a:ext cx="5029200" cy="0"/>
          </a:xfrm>
          <a:prstGeom prst="line">
            <a:avLst/>
          </a:prstGeom>
          <a:noFill/>
          <a:ln w="12700">
            <a:solidFill>
              <a:srgbClr val="DDE1E6"/>
            </a:solidFill>
            <a:prstDash val="solid"/>
          </a:ln>
        </p:spPr>
        <p:txBody>
          <a:bodyPr/>
          <a:lstStyle/>
          <a:p>
            <a:endParaRPr lang="en-US"/>
          </a:p>
        </p:txBody>
      </p:sp>
      <p:sp>
        <p:nvSpPr>
          <p:cNvPr id="22" name="Text 20"/>
          <p:cNvSpPr/>
          <p:nvPr/>
        </p:nvSpPr>
        <p:spPr>
          <a:xfrm>
            <a:off x="685800" y="4434840"/>
            <a:ext cx="5029200" cy="274320"/>
          </a:xfrm>
          <a:prstGeom prst="rect">
            <a:avLst/>
          </a:prstGeom>
          <a:noFill/>
          <a:ln/>
        </p:spPr>
        <p:txBody>
          <a:bodyPr wrap="square" lIns="0" tIns="0" rIns="0" bIns="0" rtlCol="0" anchor="ctr"/>
          <a:lstStyle/>
          <a:p>
            <a:pPr marL="0" indent="0">
              <a:buNone/>
            </a:pPr>
            <a:r>
              <a:rPr lang="en-US" sz="1400" b="1" dirty="0">
                <a:solidFill>
                  <a:srgbClr val="C8322B"/>
                </a:solidFill>
                <a:latin typeface="Calibri" pitchFamily="34" charset="0"/>
                <a:ea typeface="Calibri" pitchFamily="34" charset="-122"/>
                <a:cs typeface="Calibri" pitchFamily="34" charset="-120"/>
              </a:rPr>
              <a:t>Verification, not imputation</a:t>
            </a:r>
            <a:endParaRPr lang="en-US" sz="1400" dirty="0"/>
          </a:p>
        </p:txBody>
      </p:sp>
      <p:sp>
        <p:nvSpPr>
          <p:cNvPr id="23" name="Text 21"/>
          <p:cNvSpPr/>
          <p:nvPr/>
        </p:nvSpPr>
        <p:spPr>
          <a:xfrm>
            <a:off x="685800" y="4773168"/>
            <a:ext cx="5029200" cy="109728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Because nothing needed fixing, the burden shifts to proving that. Every property above is enforced as a named rule at load time and written to a governance table — so the claim "this data is clean" is queryable evidence, not an assertion in a slide.</a:t>
            </a:r>
            <a:endParaRPr lang="en-US" sz="1200" dirty="0"/>
          </a:p>
        </p:txBody>
      </p:sp>
      <p:sp>
        <p:nvSpPr>
          <p:cNvPr id="24" name="Text 22"/>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5</a:t>
            </a:r>
            <a:endParaRPr lang="en-US" sz="1000" dirty="0"/>
          </a:p>
        </p:txBody>
      </p:sp>
      <p:sp>
        <p:nvSpPr>
          <p:cNvPr id="25" name="Text 23"/>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VALIDATION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Nine rules, and proof they actually fire</a:t>
            </a:r>
            <a:endParaRPr lang="en-US" sz="3000" dirty="0"/>
          </a:p>
        </p:txBody>
      </p:sp>
      <p:sp>
        <p:nvSpPr>
          <p:cNvPr id="5" name="Shape 3"/>
          <p:cNvSpPr/>
          <p:nvPr/>
        </p:nvSpPr>
        <p:spPr>
          <a:xfrm>
            <a:off x="685800" y="1645920"/>
            <a:ext cx="6035040" cy="292608"/>
          </a:xfrm>
          <a:prstGeom prst="rect">
            <a:avLst/>
          </a:prstGeom>
          <a:solidFill>
            <a:srgbClr val="F1F3F5"/>
          </a:solidFill>
          <a:ln w="12700">
            <a:solidFill>
              <a:srgbClr val="F1F3F5"/>
            </a:solidFill>
            <a:prstDash val="solid"/>
          </a:ln>
        </p:spPr>
        <p:txBody>
          <a:bodyPr/>
          <a:lstStyle/>
          <a:p>
            <a:endParaRPr lang="en-US"/>
          </a:p>
        </p:txBody>
      </p:sp>
      <p:sp>
        <p:nvSpPr>
          <p:cNvPr id="6" name="Text 4"/>
          <p:cNvSpPr/>
          <p:nvPr/>
        </p:nvSpPr>
        <p:spPr>
          <a:xfrm>
            <a:off x="832104" y="1645920"/>
            <a:ext cx="3291840" cy="292608"/>
          </a:xfrm>
          <a:prstGeom prst="rect">
            <a:avLst/>
          </a:prstGeom>
          <a:noFill/>
          <a:ln/>
        </p:spPr>
        <p:txBody>
          <a:bodyPr wrap="square" lIns="0" tIns="0" rIns="0" bIns="0" rtlCol="0" anchor="ctr"/>
          <a:lstStyle/>
          <a:p>
            <a:pPr marL="0" indent="0" algn="l">
              <a:buNone/>
            </a:pPr>
            <a:r>
              <a:rPr lang="en-US" sz="1100" b="1" dirty="0">
                <a:solidFill>
                  <a:srgbClr val="15181D"/>
                </a:solidFill>
                <a:latin typeface="Calibri" pitchFamily="34" charset="0"/>
                <a:ea typeface="Calibri" pitchFamily="34" charset="-122"/>
                <a:cs typeface="Calibri" pitchFamily="34" charset="-120"/>
              </a:rPr>
              <a:t>Rule</a:t>
            </a:r>
            <a:endParaRPr lang="en-US" sz="1100" dirty="0"/>
          </a:p>
        </p:txBody>
      </p:sp>
      <p:sp>
        <p:nvSpPr>
          <p:cNvPr id="7" name="Text 5"/>
          <p:cNvSpPr/>
          <p:nvPr/>
        </p:nvSpPr>
        <p:spPr>
          <a:xfrm>
            <a:off x="4123944" y="1645920"/>
            <a:ext cx="173736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Type</a:t>
            </a:r>
            <a:endParaRPr lang="en-US" sz="1100" dirty="0"/>
          </a:p>
        </p:txBody>
      </p:sp>
      <p:sp>
        <p:nvSpPr>
          <p:cNvPr id="8" name="Text 6"/>
          <p:cNvSpPr/>
          <p:nvPr/>
        </p:nvSpPr>
        <p:spPr>
          <a:xfrm>
            <a:off x="5861304" y="1645920"/>
            <a:ext cx="82296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Sev</a:t>
            </a:r>
            <a:endParaRPr lang="en-US" sz="1100" dirty="0"/>
          </a:p>
        </p:txBody>
      </p:sp>
      <p:sp>
        <p:nvSpPr>
          <p:cNvPr id="9" name="Shape 7"/>
          <p:cNvSpPr/>
          <p:nvPr/>
        </p:nvSpPr>
        <p:spPr>
          <a:xfrm>
            <a:off x="685800" y="2231136"/>
            <a:ext cx="6035040" cy="0"/>
          </a:xfrm>
          <a:prstGeom prst="line">
            <a:avLst/>
          </a:prstGeom>
          <a:noFill/>
          <a:ln w="9525">
            <a:solidFill>
              <a:srgbClr val="DDE1E6"/>
            </a:solidFill>
            <a:prstDash val="solid"/>
          </a:ln>
        </p:spPr>
        <p:txBody>
          <a:bodyPr/>
          <a:lstStyle/>
          <a:p>
            <a:endParaRPr lang="en-US"/>
          </a:p>
        </p:txBody>
      </p:sp>
      <p:sp>
        <p:nvSpPr>
          <p:cNvPr id="10" name="Text 8"/>
          <p:cNvSpPr/>
          <p:nvPr/>
        </p:nvSpPr>
        <p:spPr>
          <a:xfrm>
            <a:off x="832104" y="1938528"/>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classes_row_count_nonzero</a:t>
            </a:r>
            <a:endParaRPr lang="en-US" sz="1100" dirty="0"/>
          </a:p>
        </p:txBody>
      </p:sp>
      <p:sp>
        <p:nvSpPr>
          <p:cNvPr id="11" name="Text 9"/>
          <p:cNvSpPr/>
          <p:nvPr/>
        </p:nvSpPr>
        <p:spPr>
          <a:xfrm>
            <a:off x="4123944" y="1938528"/>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completeness</a:t>
            </a:r>
            <a:endParaRPr lang="en-US" sz="1100" dirty="0"/>
          </a:p>
        </p:txBody>
      </p:sp>
      <p:sp>
        <p:nvSpPr>
          <p:cNvPr id="12" name="Text 10"/>
          <p:cNvSpPr/>
          <p:nvPr/>
        </p:nvSpPr>
        <p:spPr>
          <a:xfrm>
            <a:off x="5861304" y="1938528"/>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13" name="Shape 11"/>
          <p:cNvSpPr/>
          <p:nvPr/>
        </p:nvSpPr>
        <p:spPr>
          <a:xfrm>
            <a:off x="685800" y="2523744"/>
            <a:ext cx="6035040" cy="0"/>
          </a:xfrm>
          <a:prstGeom prst="line">
            <a:avLst/>
          </a:prstGeom>
          <a:noFill/>
          <a:ln w="9525">
            <a:solidFill>
              <a:srgbClr val="DDE1E6"/>
            </a:solidFill>
            <a:prstDash val="solid"/>
          </a:ln>
        </p:spPr>
        <p:txBody>
          <a:bodyPr/>
          <a:lstStyle/>
          <a:p>
            <a:endParaRPr lang="en-US"/>
          </a:p>
        </p:txBody>
      </p:sp>
      <p:sp>
        <p:nvSpPr>
          <p:cNvPr id="14" name="Text 12"/>
          <p:cNvSpPr/>
          <p:nvPr/>
        </p:nvSpPr>
        <p:spPr>
          <a:xfrm>
            <a:off x="832104" y="2231136"/>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classes_tx_id_unique</a:t>
            </a:r>
            <a:endParaRPr lang="en-US" sz="1100" dirty="0"/>
          </a:p>
        </p:txBody>
      </p:sp>
      <p:sp>
        <p:nvSpPr>
          <p:cNvPr id="15" name="Text 13"/>
          <p:cNvSpPr/>
          <p:nvPr/>
        </p:nvSpPr>
        <p:spPr>
          <a:xfrm>
            <a:off x="4123944" y="2231136"/>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uniqueness</a:t>
            </a:r>
            <a:endParaRPr lang="en-US" sz="1100" dirty="0"/>
          </a:p>
        </p:txBody>
      </p:sp>
      <p:sp>
        <p:nvSpPr>
          <p:cNvPr id="16" name="Text 14"/>
          <p:cNvSpPr/>
          <p:nvPr/>
        </p:nvSpPr>
        <p:spPr>
          <a:xfrm>
            <a:off x="5861304" y="2231136"/>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17" name="Shape 15"/>
          <p:cNvSpPr/>
          <p:nvPr/>
        </p:nvSpPr>
        <p:spPr>
          <a:xfrm>
            <a:off x="685800" y="2816352"/>
            <a:ext cx="6035040" cy="0"/>
          </a:xfrm>
          <a:prstGeom prst="line">
            <a:avLst/>
          </a:prstGeom>
          <a:noFill/>
          <a:ln w="9525">
            <a:solidFill>
              <a:srgbClr val="DDE1E6"/>
            </a:solidFill>
            <a:prstDash val="solid"/>
          </a:ln>
        </p:spPr>
        <p:txBody>
          <a:bodyPr/>
          <a:lstStyle/>
          <a:p>
            <a:endParaRPr lang="en-US"/>
          </a:p>
        </p:txBody>
      </p:sp>
      <p:sp>
        <p:nvSpPr>
          <p:cNvPr id="18" name="Text 16"/>
          <p:cNvSpPr/>
          <p:nvPr/>
        </p:nvSpPr>
        <p:spPr>
          <a:xfrm>
            <a:off x="832104" y="2523744"/>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classes_code_in_domain</a:t>
            </a:r>
            <a:endParaRPr lang="en-US" sz="1100" dirty="0"/>
          </a:p>
        </p:txBody>
      </p:sp>
      <p:sp>
        <p:nvSpPr>
          <p:cNvPr id="19" name="Text 17"/>
          <p:cNvSpPr/>
          <p:nvPr/>
        </p:nvSpPr>
        <p:spPr>
          <a:xfrm>
            <a:off x="4123944" y="2523744"/>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domain</a:t>
            </a:r>
            <a:endParaRPr lang="en-US" sz="1100" dirty="0"/>
          </a:p>
        </p:txBody>
      </p:sp>
      <p:sp>
        <p:nvSpPr>
          <p:cNvPr id="20" name="Text 18"/>
          <p:cNvSpPr/>
          <p:nvPr/>
        </p:nvSpPr>
        <p:spPr>
          <a:xfrm>
            <a:off x="5861304" y="2523744"/>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21" name="Shape 19"/>
          <p:cNvSpPr/>
          <p:nvPr/>
        </p:nvSpPr>
        <p:spPr>
          <a:xfrm>
            <a:off x="685800" y="3108960"/>
            <a:ext cx="6035040" cy="0"/>
          </a:xfrm>
          <a:prstGeom prst="line">
            <a:avLst/>
          </a:prstGeom>
          <a:noFill/>
          <a:ln w="9525">
            <a:solidFill>
              <a:srgbClr val="DDE1E6"/>
            </a:solidFill>
            <a:prstDash val="solid"/>
          </a:ln>
        </p:spPr>
        <p:txBody>
          <a:bodyPr/>
          <a:lstStyle/>
          <a:p>
            <a:endParaRPr lang="en-US"/>
          </a:p>
        </p:txBody>
      </p:sp>
      <p:sp>
        <p:nvSpPr>
          <p:cNvPr id="22" name="Text 20"/>
          <p:cNvSpPr/>
          <p:nvPr/>
        </p:nvSpPr>
        <p:spPr>
          <a:xfrm>
            <a:off x="832104" y="2816352"/>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features_tx_id_unique</a:t>
            </a:r>
            <a:endParaRPr lang="en-US" sz="1100" dirty="0"/>
          </a:p>
        </p:txBody>
      </p:sp>
      <p:sp>
        <p:nvSpPr>
          <p:cNvPr id="23" name="Text 21"/>
          <p:cNvSpPr/>
          <p:nvPr/>
        </p:nvSpPr>
        <p:spPr>
          <a:xfrm>
            <a:off x="4123944" y="2816352"/>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uniqueness</a:t>
            </a:r>
            <a:endParaRPr lang="en-US" sz="1100" dirty="0"/>
          </a:p>
        </p:txBody>
      </p:sp>
      <p:sp>
        <p:nvSpPr>
          <p:cNvPr id="24" name="Text 22"/>
          <p:cNvSpPr/>
          <p:nvPr/>
        </p:nvSpPr>
        <p:spPr>
          <a:xfrm>
            <a:off x="5861304" y="2816352"/>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25" name="Shape 23"/>
          <p:cNvSpPr/>
          <p:nvPr/>
        </p:nvSpPr>
        <p:spPr>
          <a:xfrm>
            <a:off x="685800" y="3401568"/>
            <a:ext cx="6035040" cy="0"/>
          </a:xfrm>
          <a:prstGeom prst="line">
            <a:avLst/>
          </a:prstGeom>
          <a:noFill/>
          <a:ln w="9525">
            <a:solidFill>
              <a:srgbClr val="DDE1E6"/>
            </a:solidFill>
            <a:prstDash val="solid"/>
          </a:ln>
        </p:spPr>
        <p:txBody>
          <a:bodyPr/>
          <a:lstStyle/>
          <a:p>
            <a:endParaRPr lang="en-US"/>
          </a:p>
        </p:txBody>
      </p:sp>
      <p:sp>
        <p:nvSpPr>
          <p:cNvPr id="26" name="Text 24"/>
          <p:cNvSpPr/>
          <p:nvPr/>
        </p:nvSpPr>
        <p:spPr>
          <a:xfrm>
            <a:off x="832104" y="3108960"/>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features_time_step_in_range</a:t>
            </a:r>
            <a:endParaRPr lang="en-US" sz="1100" dirty="0"/>
          </a:p>
        </p:txBody>
      </p:sp>
      <p:sp>
        <p:nvSpPr>
          <p:cNvPr id="27" name="Text 25"/>
          <p:cNvSpPr/>
          <p:nvPr/>
        </p:nvSpPr>
        <p:spPr>
          <a:xfrm>
            <a:off x="4123944" y="3108960"/>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domain</a:t>
            </a:r>
            <a:endParaRPr lang="en-US" sz="1100" dirty="0"/>
          </a:p>
        </p:txBody>
      </p:sp>
      <p:sp>
        <p:nvSpPr>
          <p:cNvPr id="28" name="Text 26"/>
          <p:cNvSpPr/>
          <p:nvPr/>
        </p:nvSpPr>
        <p:spPr>
          <a:xfrm>
            <a:off x="5861304" y="3108960"/>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29" name="Shape 27"/>
          <p:cNvSpPr/>
          <p:nvPr/>
        </p:nvSpPr>
        <p:spPr>
          <a:xfrm>
            <a:off x="685800" y="3694176"/>
            <a:ext cx="6035040" cy="0"/>
          </a:xfrm>
          <a:prstGeom prst="line">
            <a:avLst/>
          </a:prstGeom>
          <a:noFill/>
          <a:ln w="9525">
            <a:solidFill>
              <a:srgbClr val="DDE1E6"/>
            </a:solidFill>
            <a:prstDash val="solid"/>
          </a:ln>
        </p:spPr>
        <p:txBody>
          <a:bodyPr/>
          <a:lstStyle/>
          <a:p>
            <a:endParaRPr lang="en-US"/>
          </a:p>
        </p:txBody>
      </p:sp>
      <p:sp>
        <p:nvSpPr>
          <p:cNvPr id="30" name="Text 28"/>
          <p:cNvSpPr/>
          <p:nvPr/>
        </p:nvSpPr>
        <p:spPr>
          <a:xfrm>
            <a:off x="832104" y="3401568"/>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classes_features_tx_id_reconcile</a:t>
            </a:r>
            <a:endParaRPr lang="en-US" sz="1100" dirty="0"/>
          </a:p>
        </p:txBody>
      </p:sp>
      <p:sp>
        <p:nvSpPr>
          <p:cNvPr id="31" name="Text 29"/>
          <p:cNvSpPr/>
          <p:nvPr/>
        </p:nvSpPr>
        <p:spPr>
          <a:xfrm>
            <a:off x="4123944" y="3401568"/>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reconciliation</a:t>
            </a:r>
            <a:endParaRPr lang="en-US" sz="1100" dirty="0"/>
          </a:p>
        </p:txBody>
      </p:sp>
      <p:sp>
        <p:nvSpPr>
          <p:cNvPr id="32" name="Text 30"/>
          <p:cNvSpPr/>
          <p:nvPr/>
        </p:nvSpPr>
        <p:spPr>
          <a:xfrm>
            <a:off x="5861304" y="3401568"/>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33" name="Shape 31"/>
          <p:cNvSpPr/>
          <p:nvPr/>
        </p:nvSpPr>
        <p:spPr>
          <a:xfrm>
            <a:off x="685800" y="3986784"/>
            <a:ext cx="6035040" cy="0"/>
          </a:xfrm>
          <a:prstGeom prst="line">
            <a:avLst/>
          </a:prstGeom>
          <a:noFill/>
          <a:ln w="9525">
            <a:solidFill>
              <a:srgbClr val="DDE1E6"/>
            </a:solidFill>
            <a:prstDash val="solid"/>
          </a:ln>
        </p:spPr>
        <p:txBody>
          <a:bodyPr/>
          <a:lstStyle/>
          <a:p>
            <a:endParaRPr lang="en-US"/>
          </a:p>
        </p:txBody>
      </p:sp>
      <p:sp>
        <p:nvSpPr>
          <p:cNvPr id="34" name="Text 32"/>
          <p:cNvSpPr/>
          <p:nvPr/>
        </p:nvSpPr>
        <p:spPr>
          <a:xfrm>
            <a:off x="832104" y="3694176"/>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edgelist_endpoints_resolve</a:t>
            </a:r>
            <a:endParaRPr lang="en-US" sz="1100" dirty="0"/>
          </a:p>
        </p:txBody>
      </p:sp>
      <p:sp>
        <p:nvSpPr>
          <p:cNvPr id="35" name="Text 33"/>
          <p:cNvSpPr/>
          <p:nvPr/>
        </p:nvSpPr>
        <p:spPr>
          <a:xfrm>
            <a:off x="4123944" y="3694176"/>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referential</a:t>
            </a:r>
            <a:endParaRPr lang="en-US" sz="1100" dirty="0"/>
          </a:p>
        </p:txBody>
      </p:sp>
      <p:sp>
        <p:nvSpPr>
          <p:cNvPr id="36" name="Text 34"/>
          <p:cNvSpPr/>
          <p:nvPr/>
        </p:nvSpPr>
        <p:spPr>
          <a:xfrm>
            <a:off x="5861304" y="3694176"/>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37" name="Shape 35"/>
          <p:cNvSpPr/>
          <p:nvPr/>
        </p:nvSpPr>
        <p:spPr>
          <a:xfrm>
            <a:off x="685800" y="4279392"/>
            <a:ext cx="6035040" cy="0"/>
          </a:xfrm>
          <a:prstGeom prst="line">
            <a:avLst/>
          </a:prstGeom>
          <a:noFill/>
          <a:ln w="9525">
            <a:solidFill>
              <a:srgbClr val="DDE1E6"/>
            </a:solidFill>
            <a:prstDash val="solid"/>
          </a:ln>
        </p:spPr>
        <p:txBody>
          <a:bodyPr/>
          <a:lstStyle/>
          <a:p>
            <a:endParaRPr lang="en-US"/>
          </a:p>
        </p:txBody>
      </p:sp>
      <p:sp>
        <p:nvSpPr>
          <p:cNvPr id="38" name="Text 36"/>
          <p:cNvSpPr/>
          <p:nvPr/>
        </p:nvSpPr>
        <p:spPr>
          <a:xfrm>
            <a:off x="832104" y="3986784"/>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edgelist_no_self_loops</a:t>
            </a:r>
            <a:endParaRPr lang="en-US" sz="1100" dirty="0"/>
          </a:p>
        </p:txBody>
      </p:sp>
      <p:sp>
        <p:nvSpPr>
          <p:cNvPr id="39" name="Text 37"/>
          <p:cNvSpPr/>
          <p:nvPr/>
        </p:nvSpPr>
        <p:spPr>
          <a:xfrm>
            <a:off x="4123944" y="3986784"/>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domain</a:t>
            </a:r>
            <a:endParaRPr lang="en-US" sz="1100" dirty="0"/>
          </a:p>
        </p:txBody>
      </p:sp>
      <p:sp>
        <p:nvSpPr>
          <p:cNvPr id="40" name="Text 38"/>
          <p:cNvSpPr/>
          <p:nvPr/>
        </p:nvSpPr>
        <p:spPr>
          <a:xfrm>
            <a:off x="5861304" y="3986784"/>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WARN</a:t>
            </a:r>
            <a:endParaRPr lang="en-US" sz="1100" dirty="0"/>
          </a:p>
        </p:txBody>
      </p:sp>
      <p:sp>
        <p:nvSpPr>
          <p:cNvPr id="41" name="Shape 39"/>
          <p:cNvSpPr/>
          <p:nvPr/>
        </p:nvSpPr>
        <p:spPr>
          <a:xfrm>
            <a:off x="685800" y="4572000"/>
            <a:ext cx="6035040" cy="0"/>
          </a:xfrm>
          <a:prstGeom prst="line">
            <a:avLst/>
          </a:prstGeom>
          <a:noFill/>
          <a:ln w="9525">
            <a:solidFill>
              <a:srgbClr val="DDE1E6"/>
            </a:solidFill>
            <a:prstDash val="solid"/>
          </a:ln>
        </p:spPr>
        <p:txBody>
          <a:bodyPr/>
          <a:lstStyle/>
          <a:p>
            <a:endParaRPr lang="en-US"/>
          </a:p>
        </p:txBody>
      </p:sp>
      <p:sp>
        <p:nvSpPr>
          <p:cNvPr id="42" name="Text 40"/>
          <p:cNvSpPr/>
          <p:nvPr/>
        </p:nvSpPr>
        <p:spPr>
          <a:xfrm>
            <a:off x="832104" y="4279392"/>
            <a:ext cx="32918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features_no_null_values</a:t>
            </a:r>
            <a:endParaRPr lang="en-US" sz="1100" dirty="0"/>
          </a:p>
        </p:txBody>
      </p:sp>
      <p:sp>
        <p:nvSpPr>
          <p:cNvPr id="43" name="Text 41"/>
          <p:cNvSpPr/>
          <p:nvPr/>
        </p:nvSpPr>
        <p:spPr>
          <a:xfrm>
            <a:off x="4123944" y="4279392"/>
            <a:ext cx="17373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completeness</a:t>
            </a:r>
            <a:endParaRPr lang="en-US" sz="1100" dirty="0"/>
          </a:p>
        </p:txBody>
      </p:sp>
      <p:sp>
        <p:nvSpPr>
          <p:cNvPr id="44" name="Text 42"/>
          <p:cNvSpPr/>
          <p:nvPr/>
        </p:nvSpPr>
        <p:spPr>
          <a:xfrm>
            <a:off x="5861304" y="4279392"/>
            <a:ext cx="82296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ERROR</a:t>
            </a:r>
            <a:endParaRPr lang="en-US" sz="1100" dirty="0"/>
          </a:p>
        </p:txBody>
      </p:sp>
      <p:sp>
        <p:nvSpPr>
          <p:cNvPr id="45" name="Text 43"/>
          <p:cNvSpPr/>
          <p:nvPr/>
        </p:nvSpPr>
        <p:spPr>
          <a:xfrm>
            <a:off x="685800" y="4709160"/>
            <a:ext cx="6035040" cy="50292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All nine passed on the full extract. The null check covers all 165 feature columns, not a sample.</a:t>
            </a:r>
            <a:endParaRPr lang="en-US" sz="1200" dirty="0"/>
          </a:p>
        </p:txBody>
      </p:sp>
      <p:sp>
        <p:nvSpPr>
          <p:cNvPr id="46" name="Shape 44"/>
          <p:cNvSpPr/>
          <p:nvPr/>
        </p:nvSpPr>
        <p:spPr>
          <a:xfrm>
            <a:off x="7086600" y="1645920"/>
            <a:ext cx="4389120" cy="3566160"/>
          </a:xfrm>
          <a:prstGeom prst="roundRect">
            <a:avLst>
              <a:gd name="adj" fmla="val 769"/>
            </a:avLst>
          </a:prstGeom>
          <a:solidFill>
            <a:srgbClr val="15181D"/>
          </a:solidFill>
          <a:ln w="12700">
            <a:solidFill>
              <a:srgbClr val="15181D"/>
            </a:solidFill>
            <a:prstDash val="solid"/>
          </a:ln>
        </p:spPr>
        <p:txBody>
          <a:bodyPr/>
          <a:lstStyle/>
          <a:p>
            <a:endParaRPr lang="en-US"/>
          </a:p>
        </p:txBody>
      </p:sp>
      <p:sp>
        <p:nvSpPr>
          <p:cNvPr id="47" name="Text 45"/>
          <p:cNvSpPr/>
          <p:nvPr/>
        </p:nvSpPr>
        <p:spPr>
          <a:xfrm>
            <a:off x="7360920" y="1828800"/>
            <a:ext cx="3840480" cy="566928"/>
          </a:xfrm>
          <a:prstGeom prst="rect">
            <a:avLst/>
          </a:prstGeom>
          <a:noFill/>
          <a:ln/>
        </p:spPr>
        <p:txBody>
          <a:bodyPr wrap="square" lIns="0" tIns="0" rIns="0" bIns="0" rtlCol="0" anchor="ctr"/>
          <a:lstStyle/>
          <a:p>
            <a:pPr marL="0" indent="0">
              <a:lnSpc>
                <a:spcPts val="2100"/>
              </a:lnSpc>
              <a:buNone/>
            </a:pPr>
            <a:r>
              <a:rPr lang="en-US" sz="1500" b="1" dirty="0">
                <a:solidFill>
                  <a:srgbClr val="FFFFFF"/>
                </a:solidFill>
                <a:latin typeface="Calibri" pitchFamily="34" charset="0"/>
                <a:ea typeface="Calibri" pitchFamily="34" charset="-122"/>
                <a:cs typeface="Calibri" pitchFamily="34" charset="-120"/>
              </a:rPr>
              <a:t>A rule that never fails proves nothing</a:t>
            </a:r>
            <a:endParaRPr lang="en-US" sz="1500" dirty="0"/>
          </a:p>
        </p:txBody>
      </p:sp>
      <p:sp>
        <p:nvSpPr>
          <p:cNvPr id="48" name="Text 46"/>
          <p:cNvSpPr/>
          <p:nvPr/>
        </p:nvSpPr>
        <p:spPr>
          <a:xfrm>
            <a:off x="7360920" y="2450592"/>
            <a:ext cx="3840480" cy="502920"/>
          </a:xfrm>
          <a:prstGeom prst="rect">
            <a:avLst/>
          </a:prstGeom>
          <a:noFill/>
          <a:ln/>
        </p:spPr>
        <p:txBody>
          <a:bodyPr wrap="square" lIns="0" tIns="0" rIns="0" bIns="0" rtlCol="0" anchor="ctr"/>
          <a:lstStyle/>
          <a:p>
            <a:pPr marL="0" indent="0">
              <a:lnSpc>
                <a:spcPts val="1700"/>
              </a:lnSpc>
              <a:buNone/>
            </a:pPr>
            <a:r>
              <a:rPr lang="en-US" sz="1200" dirty="0">
                <a:solidFill>
                  <a:srgbClr val="E9ECEF"/>
                </a:solidFill>
                <a:latin typeface="Calibri" pitchFamily="34" charset="0"/>
                <a:ea typeface="Calibri" pitchFamily="34" charset="-122"/>
                <a:cs typeface="Calibri" pitchFamily="34" charset="-120"/>
              </a:rPr>
              <a:t>Three defects were injected into a copy of the input and the load re-run:</a:t>
            </a:r>
            <a:endParaRPr lang="en-US" sz="1200" dirty="0"/>
          </a:p>
        </p:txBody>
      </p:sp>
      <p:sp>
        <p:nvSpPr>
          <p:cNvPr id="49" name="Text 47"/>
          <p:cNvSpPr/>
          <p:nvPr/>
        </p:nvSpPr>
        <p:spPr>
          <a:xfrm>
            <a:off x="7360920" y="3017520"/>
            <a:ext cx="3840480" cy="914400"/>
          </a:xfrm>
          <a:prstGeom prst="rect">
            <a:avLst/>
          </a:prstGeom>
          <a:noFill/>
          <a:ln/>
        </p:spPr>
        <p:txBody>
          <a:bodyPr wrap="square" lIns="0" tIns="0" rIns="0" bIns="0" rtlCol="0" anchor="ctr"/>
          <a:lstStyle/>
          <a:p>
            <a:pPr marL="0" indent="0">
              <a:lnSpc>
                <a:spcPts val="1900"/>
              </a:lnSpc>
              <a:buNone/>
            </a:pPr>
            <a:r>
              <a:rPr lang="en-US" sz="1150" dirty="0">
                <a:solidFill>
                  <a:srgbClr val="FFFFFF"/>
                </a:solidFill>
                <a:latin typeface="Courier New" pitchFamily="34" charset="0"/>
                <a:ea typeface="Courier New" pitchFamily="34" charset="-122"/>
                <a:cs typeface="Courier New" pitchFamily="34" charset="-120"/>
              </a:rPr>
              <a:t>duplicate txId        caught</a:t>
            </a:r>
            <a:endParaRPr lang="en-US" sz="1150" dirty="0"/>
          </a:p>
          <a:p>
            <a:pPr marL="0" indent="0">
              <a:lnSpc>
                <a:spcPts val="1900"/>
              </a:lnSpc>
              <a:buNone/>
            </a:pPr>
            <a:r>
              <a:rPr lang="en-US" sz="1150" dirty="0">
                <a:solidFill>
                  <a:srgbClr val="FFFFFF"/>
                </a:solidFill>
                <a:latin typeface="Courier New" pitchFamily="34" charset="0"/>
                <a:ea typeface="Courier New" pitchFamily="34" charset="-122"/>
                <a:cs typeface="Courier New" pitchFamily="34" charset="-120"/>
              </a:rPr>
              <a:t>time_step = 99        caught</a:t>
            </a:r>
            <a:endParaRPr lang="en-US" sz="1150" dirty="0"/>
          </a:p>
          <a:p>
            <a:pPr marL="0" indent="0">
              <a:lnSpc>
                <a:spcPts val="1900"/>
              </a:lnSpc>
              <a:buNone/>
            </a:pPr>
            <a:r>
              <a:rPr lang="en-US" sz="1150" dirty="0">
                <a:solidFill>
                  <a:srgbClr val="FFFFFF"/>
                </a:solidFill>
                <a:latin typeface="Courier New" pitchFamily="34" charset="0"/>
                <a:ea typeface="Courier New" pitchFamily="34" charset="-122"/>
                <a:cs typeface="Courier New" pitchFamily="34" charset="-120"/>
              </a:rPr>
              <a:t>edge to missing tx    caught</a:t>
            </a:r>
            <a:endParaRPr lang="en-US" sz="1150" dirty="0"/>
          </a:p>
        </p:txBody>
      </p:sp>
      <p:sp>
        <p:nvSpPr>
          <p:cNvPr id="50" name="Text 48"/>
          <p:cNvSpPr/>
          <p:nvPr/>
        </p:nvSpPr>
        <p:spPr>
          <a:xfrm>
            <a:off x="7360920" y="4023360"/>
            <a:ext cx="3840480" cy="1051560"/>
          </a:xfrm>
          <a:prstGeom prst="rect">
            <a:avLst/>
          </a:prstGeom>
          <a:noFill/>
          <a:ln/>
        </p:spPr>
        <p:txBody>
          <a:bodyPr wrap="square" lIns="0" tIns="0" rIns="0" bIns="0" rtlCol="0" anchor="ctr"/>
          <a:lstStyle/>
          <a:p>
            <a:pPr marL="0" indent="0">
              <a:lnSpc>
                <a:spcPts val="1700"/>
              </a:lnSpc>
              <a:buNone/>
            </a:pPr>
            <a:r>
              <a:rPr lang="en-US" sz="1150" dirty="0">
                <a:solidFill>
                  <a:srgbClr val="6E7A88"/>
                </a:solidFill>
                <a:latin typeface="Calibri" pitchFamily="34" charset="0"/>
                <a:ea typeface="Calibri" pitchFamily="34" charset="-122"/>
                <a:cs typeface="Calibri" pitchFamily="34" charset="-120"/>
              </a:rPr>
              <a:t>Each was caught by its own named rule. The run aborted, core stayed empty, and the failure persisted to the governance table on a separate connection — so the abort is auditable rather than silent.</a:t>
            </a:r>
            <a:endParaRPr lang="en-US" sz="1150" dirty="0"/>
          </a:p>
        </p:txBody>
      </p:sp>
      <p:sp>
        <p:nvSpPr>
          <p:cNvPr id="51" name="Text 49"/>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6</a:t>
            </a:r>
            <a:endParaRPr lang="en-US" sz="1000" dirty="0"/>
          </a:p>
        </p:txBody>
      </p:sp>
      <p:sp>
        <p:nvSpPr>
          <p:cNvPr id="52" name="Text 50"/>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DATABASE DESIGN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Four schemas, each with one job</a:t>
            </a:r>
            <a:endParaRPr lang="en-US" sz="3000" dirty="0"/>
          </a:p>
        </p:txBody>
      </p:sp>
      <p:sp>
        <p:nvSpPr>
          <p:cNvPr id="5" name="Shape 3"/>
          <p:cNvSpPr/>
          <p:nvPr/>
        </p:nvSpPr>
        <p:spPr>
          <a:xfrm>
            <a:off x="685800" y="1664208"/>
            <a:ext cx="2103120" cy="841248"/>
          </a:xfrm>
          <a:prstGeom prst="roundRect">
            <a:avLst>
              <a:gd name="adj" fmla="val 5435"/>
            </a:avLst>
          </a:prstGeom>
          <a:solidFill>
            <a:srgbClr val="6E7A88"/>
          </a:solidFill>
          <a:ln w="12700">
            <a:solidFill>
              <a:srgbClr val="6E7A88"/>
            </a:solidFill>
            <a:prstDash val="solid"/>
          </a:ln>
        </p:spPr>
        <p:txBody>
          <a:bodyPr/>
          <a:lstStyle/>
          <a:p>
            <a:endParaRPr lang="en-US"/>
          </a:p>
        </p:txBody>
      </p:sp>
      <p:sp>
        <p:nvSpPr>
          <p:cNvPr id="6" name="Text 4"/>
          <p:cNvSpPr/>
          <p:nvPr/>
        </p:nvSpPr>
        <p:spPr>
          <a:xfrm>
            <a:off x="685800" y="1664208"/>
            <a:ext cx="2103120" cy="8412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staging</a:t>
            </a:r>
            <a:endParaRPr lang="en-US" sz="1400" dirty="0"/>
          </a:p>
        </p:txBody>
      </p:sp>
      <p:sp>
        <p:nvSpPr>
          <p:cNvPr id="7" name="Text 5"/>
          <p:cNvSpPr/>
          <p:nvPr/>
        </p:nvSpPr>
        <p:spPr>
          <a:xfrm>
            <a:off x="3017520" y="1664208"/>
            <a:ext cx="4572000" cy="84124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Untyped landing zone. Unlogged, truncated after every run. Nothing downstream reads it.</a:t>
            </a:r>
            <a:endParaRPr lang="en-US" sz="1150" dirty="0"/>
          </a:p>
        </p:txBody>
      </p:sp>
      <p:sp>
        <p:nvSpPr>
          <p:cNvPr id="8" name="Shape 6"/>
          <p:cNvSpPr/>
          <p:nvPr/>
        </p:nvSpPr>
        <p:spPr>
          <a:xfrm>
            <a:off x="685800" y="2633472"/>
            <a:ext cx="2103120" cy="841248"/>
          </a:xfrm>
          <a:prstGeom prst="roundRect">
            <a:avLst>
              <a:gd name="adj" fmla="val 5435"/>
            </a:avLst>
          </a:prstGeom>
          <a:solidFill>
            <a:srgbClr val="C8322B"/>
          </a:solidFill>
          <a:ln w="12700">
            <a:solidFill>
              <a:srgbClr val="C8322B"/>
            </a:solidFill>
            <a:prstDash val="solid"/>
          </a:ln>
        </p:spPr>
        <p:txBody>
          <a:bodyPr/>
          <a:lstStyle/>
          <a:p>
            <a:endParaRPr lang="en-US"/>
          </a:p>
        </p:txBody>
      </p:sp>
      <p:sp>
        <p:nvSpPr>
          <p:cNvPr id="9" name="Text 7"/>
          <p:cNvSpPr/>
          <p:nvPr/>
        </p:nvSpPr>
        <p:spPr>
          <a:xfrm>
            <a:off x="685800" y="2633472"/>
            <a:ext cx="2103120" cy="8412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core</a:t>
            </a:r>
            <a:endParaRPr lang="en-US" sz="1400" dirty="0"/>
          </a:p>
        </p:txBody>
      </p:sp>
      <p:sp>
        <p:nvSpPr>
          <p:cNvPr id="10" name="Text 8"/>
          <p:cNvSpPr/>
          <p:nvPr/>
        </p:nvSpPr>
        <p:spPr>
          <a:xfrm>
            <a:off x="3017520" y="2633472"/>
            <a:ext cx="4572000" cy="84124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The conformed model. Typed, constrained, documented. transaction · tx_feature · tx_flow · 3 dimensions</a:t>
            </a:r>
            <a:endParaRPr lang="en-US" sz="1150" dirty="0"/>
          </a:p>
        </p:txBody>
      </p:sp>
      <p:sp>
        <p:nvSpPr>
          <p:cNvPr id="11" name="Shape 9"/>
          <p:cNvSpPr/>
          <p:nvPr/>
        </p:nvSpPr>
        <p:spPr>
          <a:xfrm>
            <a:off x="685800" y="3602736"/>
            <a:ext cx="2103120" cy="841248"/>
          </a:xfrm>
          <a:prstGeom prst="roundRect">
            <a:avLst>
              <a:gd name="adj" fmla="val 5435"/>
            </a:avLst>
          </a:prstGeom>
          <a:solidFill>
            <a:srgbClr val="48586B"/>
          </a:solidFill>
          <a:ln w="12700">
            <a:solidFill>
              <a:srgbClr val="48586B"/>
            </a:solidFill>
            <a:prstDash val="solid"/>
          </a:ln>
        </p:spPr>
        <p:txBody>
          <a:bodyPr/>
          <a:lstStyle/>
          <a:p>
            <a:endParaRPr lang="en-US"/>
          </a:p>
        </p:txBody>
      </p:sp>
      <p:sp>
        <p:nvSpPr>
          <p:cNvPr id="12" name="Text 10"/>
          <p:cNvSpPr/>
          <p:nvPr/>
        </p:nvSpPr>
        <p:spPr>
          <a:xfrm>
            <a:off x="685800" y="3602736"/>
            <a:ext cx="2103120" cy="8412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analytics</a:t>
            </a:r>
            <a:endParaRPr lang="en-US" sz="1400" dirty="0"/>
          </a:p>
        </p:txBody>
      </p:sp>
      <p:sp>
        <p:nvSpPr>
          <p:cNvPr id="13" name="Text 11"/>
          <p:cNvSpPr/>
          <p:nvPr/>
        </p:nvSpPr>
        <p:spPr>
          <a:xfrm>
            <a:off x="3017520" y="3602736"/>
            <a:ext cx="4572000" cy="84124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Derived monitoring and analysis objects. 10 views and materialised views. Rebuildable from core.</a:t>
            </a:r>
            <a:endParaRPr lang="en-US" sz="1150" dirty="0"/>
          </a:p>
        </p:txBody>
      </p:sp>
      <p:sp>
        <p:nvSpPr>
          <p:cNvPr id="14" name="Shape 12"/>
          <p:cNvSpPr/>
          <p:nvPr/>
        </p:nvSpPr>
        <p:spPr>
          <a:xfrm>
            <a:off x="685800" y="4572000"/>
            <a:ext cx="2103120" cy="841248"/>
          </a:xfrm>
          <a:prstGeom prst="roundRect">
            <a:avLst>
              <a:gd name="adj" fmla="val 5435"/>
            </a:avLst>
          </a:prstGeom>
          <a:solidFill>
            <a:srgbClr val="6E7A88"/>
          </a:solidFill>
          <a:ln w="12700">
            <a:solidFill>
              <a:srgbClr val="6E7A88"/>
            </a:solidFill>
            <a:prstDash val="solid"/>
          </a:ln>
        </p:spPr>
        <p:txBody>
          <a:bodyPr/>
          <a:lstStyle/>
          <a:p>
            <a:endParaRPr lang="en-US"/>
          </a:p>
        </p:txBody>
      </p:sp>
      <p:sp>
        <p:nvSpPr>
          <p:cNvPr id="15" name="Text 13"/>
          <p:cNvSpPr/>
          <p:nvPr/>
        </p:nvSpPr>
        <p:spPr>
          <a:xfrm>
            <a:off x="685800" y="4572000"/>
            <a:ext cx="2103120" cy="8412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governance</a:t>
            </a:r>
            <a:endParaRPr lang="en-US" sz="1400" dirty="0"/>
          </a:p>
        </p:txBody>
      </p:sp>
      <p:sp>
        <p:nvSpPr>
          <p:cNvPr id="16" name="Text 14"/>
          <p:cNvSpPr/>
          <p:nvPr/>
        </p:nvSpPr>
        <p:spPr>
          <a:xfrm>
            <a:off x="3017520" y="4572000"/>
            <a:ext cx="4572000" cy="84124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Load audit with SHA-256 of every source file, rule results, rejected rows.</a:t>
            </a:r>
            <a:endParaRPr lang="en-US" sz="1150" dirty="0"/>
          </a:p>
        </p:txBody>
      </p:sp>
      <p:sp>
        <p:nvSpPr>
          <p:cNvPr id="17" name="Shape 15"/>
          <p:cNvSpPr/>
          <p:nvPr/>
        </p:nvSpPr>
        <p:spPr>
          <a:xfrm>
            <a:off x="7909560" y="1664208"/>
            <a:ext cx="3566160" cy="3657600"/>
          </a:xfrm>
          <a:prstGeom prst="roundRect">
            <a:avLst>
              <a:gd name="adj" fmla="val 769"/>
            </a:avLst>
          </a:prstGeom>
          <a:solidFill>
            <a:srgbClr val="F1F3F5"/>
          </a:solidFill>
          <a:ln w="12700">
            <a:solidFill>
              <a:srgbClr val="F1F3F5"/>
            </a:solidFill>
            <a:prstDash val="solid"/>
          </a:ln>
        </p:spPr>
        <p:txBody>
          <a:bodyPr/>
          <a:lstStyle/>
          <a:p>
            <a:endParaRPr lang="en-US"/>
          </a:p>
        </p:txBody>
      </p:sp>
      <p:sp>
        <p:nvSpPr>
          <p:cNvPr id="18" name="Text 16"/>
          <p:cNvSpPr/>
          <p:nvPr/>
        </p:nvSpPr>
        <p:spPr>
          <a:xfrm>
            <a:off x="8165592" y="1828800"/>
            <a:ext cx="3063240" cy="274320"/>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Why separate them</a:t>
            </a:r>
            <a:endParaRPr lang="en-US" sz="1400" dirty="0"/>
          </a:p>
        </p:txBody>
      </p:sp>
      <p:sp>
        <p:nvSpPr>
          <p:cNvPr id="19" name="Text 17"/>
          <p:cNvSpPr/>
          <p:nvPr/>
        </p:nvSpPr>
        <p:spPr>
          <a:xfrm>
            <a:off x="8165592" y="2194560"/>
            <a:ext cx="3063240" cy="292608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A single schema would make "what did the source actually contain" and "what do we believe about it" the same question. Keeping staging, core and analytics apart means core can carry constraints that raw data would violate, and analytics can be dropped and rebuilt without touching evidence.</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governance is deliberately outside that chain: it must survive a failed load, because a load that aborts is exactly when the audit trail matters.</a:t>
            </a:r>
            <a:endParaRPr lang="en-US" sz="1150" dirty="0"/>
          </a:p>
        </p:txBody>
      </p:sp>
      <p:sp>
        <p:nvSpPr>
          <p:cNvPr id="20" name="Text 18"/>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7</a:t>
            </a:r>
            <a:endParaRPr lang="en-US" sz="1000" dirty="0"/>
          </a:p>
        </p:txBody>
      </p:sp>
      <p:sp>
        <p:nvSpPr>
          <p:cNvPr id="21" name="Text 19"/>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DATABASE DESIGN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Three decisions worth defending</a:t>
            </a:r>
            <a:endParaRPr lang="en-US" sz="3000" dirty="0"/>
          </a:p>
        </p:txBody>
      </p:sp>
      <p:sp>
        <p:nvSpPr>
          <p:cNvPr id="5" name="Shape 3"/>
          <p:cNvSpPr/>
          <p:nvPr/>
        </p:nvSpPr>
        <p:spPr>
          <a:xfrm>
            <a:off x="685800" y="1691640"/>
            <a:ext cx="3383280" cy="2148840"/>
          </a:xfrm>
          <a:prstGeom prst="roundRect">
            <a:avLst>
              <a:gd name="adj" fmla="val 1702"/>
            </a:avLst>
          </a:prstGeom>
          <a:solidFill>
            <a:srgbClr val="F1F3F5"/>
          </a:solidFill>
          <a:ln w="12700">
            <a:solidFill>
              <a:srgbClr val="F1F3F5"/>
            </a:solidFill>
            <a:prstDash val="solid"/>
          </a:ln>
        </p:spPr>
        <p:txBody>
          <a:bodyPr/>
          <a:lstStyle/>
          <a:p>
            <a:endParaRPr lang="en-US"/>
          </a:p>
        </p:txBody>
      </p:sp>
      <p:sp>
        <p:nvSpPr>
          <p:cNvPr id="6" name="Text 4"/>
          <p:cNvSpPr/>
          <p:nvPr/>
        </p:nvSpPr>
        <p:spPr>
          <a:xfrm>
            <a:off x="941832" y="1892808"/>
            <a:ext cx="28712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Wide, not entity-attribute-value</a:t>
            </a:r>
            <a:endParaRPr lang="en-US" sz="1400" dirty="0"/>
          </a:p>
        </p:txBody>
      </p:sp>
      <p:sp>
        <p:nvSpPr>
          <p:cNvPr id="7" name="Text 5"/>
          <p:cNvSpPr/>
          <p:nvPr/>
        </p:nvSpPr>
        <p:spPr>
          <a:xfrm>
            <a:off x="941832" y="2240280"/>
            <a:ext cx="2871216" cy="139903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165 features stored as 165 columns. EAV would turn 203,769 rows into 33.6M and force a pivot on every query — for no gain, since the feature set is fixed and non-sparse.</a:t>
            </a:r>
            <a:endParaRPr lang="en-US" sz="1200" dirty="0"/>
          </a:p>
        </p:txBody>
      </p:sp>
      <p:sp>
        <p:nvSpPr>
          <p:cNvPr id="8" name="Shape 6"/>
          <p:cNvSpPr/>
          <p:nvPr/>
        </p:nvSpPr>
        <p:spPr>
          <a:xfrm>
            <a:off x="4389120" y="1691640"/>
            <a:ext cx="3383280" cy="2148840"/>
          </a:xfrm>
          <a:prstGeom prst="roundRect">
            <a:avLst>
              <a:gd name="adj" fmla="val 1702"/>
            </a:avLst>
          </a:prstGeom>
          <a:solidFill>
            <a:srgbClr val="F1F3F5"/>
          </a:solidFill>
          <a:ln w="12700">
            <a:solidFill>
              <a:srgbClr val="F1F3F5"/>
            </a:solidFill>
            <a:prstDash val="solid"/>
          </a:ln>
        </p:spPr>
        <p:txBody>
          <a:bodyPr/>
          <a:lstStyle/>
          <a:p>
            <a:endParaRPr lang="en-US"/>
          </a:p>
        </p:txBody>
      </p:sp>
      <p:sp>
        <p:nvSpPr>
          <p:cNvPr id="9" name="Text 7"/>
          <p:cNvSpPr/>
          <p:nvPr/>
        </p:nvSpPr>
        <p:spPr>
          <a:xfrm>
            <a:off x="4645152" y="1892808"/>
            <a:ext cx="2871216" cy="310896"/>
          </a:xfrm>
          <a:prstGeom prst="rect">
            <a:avLst/>
          </a:prstGeom>
          <a:noFill/>
          <a:ln/>
        </p:spPr>
        <p:txBody>
          <a:bodyPr wrap="square" lIns="0" tIns="0" rIns="0" bIns="0" rtlCol="0" anchor="ctr"/>
          <a:lstStyle/>
          <a:p>
            <a:pPr marL="0" indent="0">
              <a:buNone/>
            </a:pPr>
            <a:r>
              <a:rPr lang="en-US" sz="1400" b="1" dirty="0">
                <a:solidFill>
                  <a:srgbClr val="C8322B"/>
                </a:solidFill>
                <a:latin typeface="Calibri" pitchFamily="34" charset="0"/>
                <a:ea typeface="Calibri" pitchFamily="34" charset="-122"/>
                <a:cs typeface="Calibri" pitchFamily="34" charset="-120"/>
              </a:rPr>
              <a:t>Unknown is not licit</a:t>
            </a:r>
            <a:endParaRPr lang="en-US" sz="1400" dirty="0"/>
          </a:p>
        </p:txBody>
      </p:sp>
      <p:sp>
        <p:nvSpPr>
          <p:cNvPr id="10" name="Text 8"/>
          <p:cNvSpPr/>
          <p:nvPr/>
        </p:nvSpPr>
        <p:spPr>
          <a:xfrm>
            <a:off x="4645152" y="2240280"/>
            <a:ext cx="2871216" cy="139903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dim_class carries is_labelled as a boolean separate from the class code. A class-3 transaction is one Elliptic could not attribute, not a negative example. The schema makes conflating them impossible.</a:t>
            </a:r>
            <a:endParaRPr lang="en-US" sz="1200" dirty="0"/>
          </a:p>
        </p:txBody>
      </p:sp>
      <p:sp>
        <p:nvSpPr>
          <p:cNvPr id="11" name="Shape 9"/>
          <p:cNvSpPr/>
          <p:nvPr/>
        </p:nvSpPr>
        <p:spPr>
          <a:xfrm>
            <a:off x="8092440" y="1691640"/>
            <a:ext cx="3383280" cy="2148840"/>
          </a:xfrm>
          <a:prstGeom prst="roundRect">
            <a:avLst>
              <a:gd name="adj" fmla="val 1702"/>
            </a:avLst>
          </a:prstGeom>
          <a:solidFill>
            <a:srgbClr val="F1F3F5"/>
          </a:solidFill>
          <a:ln w="12700">
            <a:solidFill>
              <a:srgbClr val="F1F3F5"/>
            </a:solidFill>
            <a:prstDash val="solid"/>
          </a:ln>
        </p:spPr>
        <p:txBody>
          <a:bodyPr/>
          <a:lstStyle/>
          <a:p>
            <a:endParaRPr lang="en-US"/>
          </a:p>
        </p:txBody>
      </p:sp>
      <p:sp>
        <p:nvSpPr>
          <p:cNvPr id="12" name="Text 10"/>
          <p:cNvSpPr/>
          <p:nvPr/>
        </p:nvSpPr>
        <p:spPr>
          <a:xfrm>
            <a:off x="8348472" y="1892808"/>
            <a:ext cx="28712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Edges are transactions, not parties</a:t>
            </a:r>
            <a:endParaRPr lang="en-US" sz="1400" dirty="0"/>
          </a:p>
        </p:txBody>
      </p:sp>
      <p:sp>
        <p:nvSpPr>
          <p:cNvPr id="13" name="Text 11"/>
          <p:cNvSpPr/>
          <p:nvPr/>
        </p:nvSpPr>
        <p:spPr>
          <a:xfrm>
            <a:off x="8348472" y="2240280"/>
            <a:ext cx="2871216" cy="139903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tx_flow joins transaction to transaction. The dataset has no wallets or account holders, so no customer dimension is invented. The constraint is recorded in the table comment.</a:t>
            </a:r>
            <a:endParaRPr lang="en-US" sz="1200" dirty="0"/>
          </a:p>
        </p:txBody>
      </p:sp>
      <p:sp>
        <p:nvSpPr>
          <p:cNvPr id="14" name="Shape 12"/>
          <p:cNvSpPr/>
          <p:nvPr/>
        </p:nvSpPr>
        <p:spPr>
          <a:xfrm>
            <a:off x="685800" y="4160520"/>
            <a:ext cx="10789920" cy="0"/>
          </a:xfrm>
          <a:prstGeom prst="line">
            <a:avLst/>
          </a:prstGeom>
          <a:noFill/>
          <a:ln w="12700">
            <a:solidFill>
              <a:srgbClr val="DDE1E6"/>
            </a:solidFill>
            <a:prstDash val="solid"/>
          </a:ln>
        </p:spPr>
        <p:txBody>
          <a:bodyPr/>
          <a:lstStyle/>
          <a:p>
            <a:endParaRPr lang="en-US"/>
          </a:p>
        </p:txBody>
      </p:sp>
      <p:sp>
        <p:nvSpPr>
          <p:cNvPr id="15" name="Text 13"/>
          <p:cNvSpPr/>
          <p:nvPr/>
        </p:nvSpPr>
        <p:spPr>
          <a:xfrm>
            <a:off x="685800" y="4343400"/>
            <a:ext cx="5486400" cy="310896"/>
          </a:xfrm>
          <a:prstGeom prst="rect">
            <a:avLst/>
          </a:prstGeom>
          <a:noFill/>
          <a:ln/>
        </p:spPr>
        <p:txBody>
          <a:bodyPr wrap="square" lIns="0" tIns="0" rIns="0" bIns="0" rtlCol="0" anchor="ctr"/>
          <a:lstStyle/>
          <a:p>
            <a:pPr marL="0" indent="0">
              <a:buNone/>
            </a:pPr>
            <a:r>
              <a:rPr lang="en-US" sz="1600" b="1" dirty="0">
                <a:solidFill>
                  <a:srgbClr val="15181D"/>
                </a:solidFill>
                <a:latin typeface="Calibri" pitchFamily="34" charset="0"/>
                <a:ea typeface="Calibri" pitchFamily="34" charset="-122"/>
                <a:cs typeface="Calibri" pitchFamily="34" charset="-120"/>
              </a:rPr>
              <a:t>The schema is generated, not written</a:t>
            </a:r>
            <a:endParaRPr lang="en-US" sz="1600" dirty="0"/>
          </a:p>
        </p:txBody>
      </p:sp>
      <p:sp>
        <p:nvSpPr>
          <p:cNvPr id="16" name="Text 14"/>
          <p:cNvSpPr/>
          <p:nvPr/>
        </p:nvSpPr>
        <p:spPr>
          <a:xfrm>
            <a:off x="685800" y="4709160"/>
            <a:ext cx="5486400" cy="137160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The 165 feature columns appear in the core table, the staging table and the bulk-load column list. Deriving all three from one constant in gen_schema.py removes the possibility of drift between them. The data dictionary is generated too — read back out of the live catalog after a load, so documentation cannot describe a database that was never built.</a:t>
            </a:r>
            <a:endParaRPr lang="en-US" sz="1200" dirty="0"/>
          </a:p>
        </p:txBody>
      </p:sp>
      <p:sp>
        <p:nvSpPr>
          <p:cNvPr id="17" name="Shape 15"/>
          <p:cNvSpPr/>
          <p:nvPr/>
        </p:nvSpPr>
        <p:spPr>
          <a:xfrm>
            <a:off x="6537960" y="4315968"/>
            <a:ext cx="4937760" cy="1691640"/>
          </a:xfrm>
          <a:prstGeom prst="roundRect">
            <a:avLst>
              <a:gd name="adj" fmla="val 1622"/>
            </a:avLst>
          </a:prstGeom>
          <a:solidFill>
            <a:srgbClr val="15181D"/>
          </a:solidFill>
          <a:ln w="12700">
            <a:solidFill>
              <a:srgbClr val="15181D"/>
            </a:solidFill>
            <a:prstDash val="solid"/>
          </a:ln>
        </p:spPr>
        <p:txBody>
          <a:bodyPr/>
          <a:lstStyle/>
          <a:p>
            <a:endParaRPr lang="en-US"/>
          </a:p>
        </p:txBody>
      </p:sp>
      <p:sp>
        <p:nvSpPr>
          <p:cNvPr id="18" name="Text 16"/>
          <p:cNvSpPr/>
          <p:nvPr/>
        </p:nvSpPr>
        <p:spPr>
          <a:xfrm>
            <a:off x="6739128" y="4480560"/>
            <a:ext cx="4535424" cy="136245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FEATURE_COLS = (</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[f"local_feature_{i}"     for i in 1..93]</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[f"aggregate_feature_{i}" for i in 1..72]</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one source -&gt; DDL, staging, COPY list</a:t>
            </a:r>
            <a:endParaRPr lang="en-US" sz="1050" dirty="0"/>
          </a:p>
        </p:txBody>
      </p:sp>
      <p:sp>
        <p:nvSpPr>
          <p:cNvPr id="19" name="Text 17"/>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8</a:t>
            </a:r>
            <a:endParaRPr lang="en-US" sz="1000" dirty="0"/>
          </a:p>
        </p:txBody>
      </p:sp>
      <p:sp>
        <p:nvSpPr>
          <p:cNvPr id="20" name="Text 18"/>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LOADING</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One transaction, or nothing</a:t>
            </a:r>
            <a:endParaRPr lang="en-US" sz="3000" dirty="0"/>
          </a:p>
        </p:txBody>
      </p:sp>
      <p:sp>
        <p:nvSpPr>
          <p:cNvPr id="5" name="Text 3"/>
          <p:cNvSpPr/>
          <p:nvPr/>
        </p:nvSpPr>
        <p:spPr>
          <a:xfrm>
            <a:off x="685800" y="1645920"/>
            <a:ext cx="548640" cy="658368"/>
          </a:xfrm>
          <a:prstGeom prst="rect">
            <a:avLst/>
          </a:prstGeom>
          <a:noFill/>
          <a:ln/>
        </p:spPr>
        <p:txBody>
          <a:bodyPr wrap="square" lIns="0" tIns="0" rIns="0" bIns="0" rtlCol="0" anchor="ctr"/>
          <a:lstStyle/>
          <a:p>
            <a:pPr marL="0" indent="0">
              <a:buNone/>
            </a:pPr>
            <a:r>
              <a:rPr lang="en-US" sz="1700" b="1" dirty="0">
                <a:solidFill>
                  <a:srgbClr val="C8322B"/>
                </a:solidFill>
                <a:latin typeface="Courier New" pitchFamily="34" charset="0"/>
                <a:ea typeface="Courier New" pitchFamily="34" charset="-122"/>
                <a:cs typeface="Courier New" pitchFamily="34" charset="-120"/>
              </a:rPr>
              <a:t>01</a:t>
            </a:r>
            <a:endParaRPr lang="en-US" sz="1700" dirty="0"/>
          </a:p>
        </p:txBody>
      </p:sp>
      <p:sp>
        <p:nvSpPr>
          <p:cNvPr id="6" name="Text 4"/>
          <p:cNvSpPr/>
          <p:nvPr/>
        </p:nvSpPr>
        <p:spPr>
          <a:xfrm>
            <a:off x="1280160" y="1645920"/>
            <a:ext cx="1828800" cy="658368"/>
          </a:xfrm>
          <a:prstGeom prst="rect">
            <a:avLst/>
          </a:prstGeom>
          <a:noFill/>
          <a:ln/>
        </p:spPr>
        <p:txBody>
          <a:bodyPr wrap="square" lIns="0" tIns="0" rIns="0" bIns="0" rtlCol="0" anchor="ctr"/>
          <a:lstStyle/>
          <a:p>
            <a:pPr marL="0" indent="0">
              <a:buNone/>
            </a:pPr>
            <a:r>
              <a:rPr lang="en-US" sz="1350" b="1" dirty="0">
                <a:solidFill>
                  <a:srgbClr val="15181D"/>
                </a:solidFill>
                <a:latin typeface="Calibri" pitchFamily="34" charset="0"/>
                <a:ea typeface="Calibri" pitchFamily="34" charset="-122"/>
                <a:cs typeface="Calibri" pitchFamily="34" charset="-120"/>
              </a:rPr>
              <a:t>Extract</a:t>
            </a:r>
            <a:endParaRPr lang="en-US" sz="1350" dirty="0"/>
          </a:p>
        </p:txBody>
      </p:sp>
      <p:sp>
        <p:nvSpPr>
          <p:cNvPr id="7" name="Text 5"/>
          <p:cNvSpPr/>
          <p:nvPr/>
        </p:nvSpPr>
        <p:spPr>
          <a:xfrm>
            <a:off x="3154680" y="1645920"/>
            <a:ext cx="4480560" cy="65836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COPY into unlogged staging. SHA-256 of each source file recorded before a single row is read.</a:t>
            </a:r>
            <a:endParaRPr lang="en-US" sz="1150" dirty="0"/>
          </a:p>
        </p:txBody>
      </p:sp>
      <p:sp>
        <p:nvSpPr>
          <p:cNvPr id="8" name="Text 6"/>
          <p:cNvSpPr/>
          <p:nvPr/>
        </p:nvSpPr>
        <p:spPr>
          <a:xfrm>
            <a:off x="685800" y="2395728"/>
            <a:ext cx="548640" cy="658368"/>
          </a:xfrm>
          <a:prstGeom prst="rect">
            <a:avLst/>
          </a:prstGeom>
          <a:noFill/>
          <a:ln/>
        </p:spPr>
        <p:txBody>
          <a:bodyPr wrap="square" lIns="0" tIns="0" rIns="0" bIns="0" rtlCol="0" anchor="ctr"/>
          <a:lstStyle/>
          <a:p>
            <a:pPr marL="0" indent="0">
              <a:buNone/>
            </a:pPr>
            <a:r>
              <a:rPr lang="en-US" sz="1700" b="1" dirty="0">
                <a:solidFill>
                  <a:srgbClr val="C8322B"/>
                </a:solidFill>
                <a:latin typeface="Courier New" pitchFamily="34" charset="0"/>
                <a:ea typeface="Courier New" pitchFamily="34" charset="-122"/>
                <a:cs typeface="Courier New" pitchFamily="34" charset="-120"/>
              </a:rPr>
              <a:t>02</a:t>
            </a:r>
            <a:endParaRPr lang="en-US" sz="1700" dirty="0"/>
          </a:p>
        </p:txBody>
      </p:sp>
      <p:sp>
        <p:nvSpPr>
          <p:cNvPr id="9" name="Text 7"/>
          <p:cNvSpPr/>
          <p:nvPr/>
        </p:nvSpPr>
        <p:spPr>
          <a:xfrm>
            <a:off x="1280160" y="2395728"/>
            <a:ext cx="1828800" cy="658368"/>
          </a:xfrm>
          <a:prstGeom prst="rect">
            <a:avLst/>
          </a:prstGeom>
          <a:noFill/>
          <a:ln/>
        </p:spPr>
        <p:txBody>
          <a:bodyPr wrap="square" lIns="0" tIns="0" rIns="0" bIns="0" rtlCol="0" anchor="ctr"/>
          <a:lstStyle/>
          <a:p>
            <a:pPr marL="0" indent="0">
              <a:buNone/>
            </a:pPr>
            <a:r>
              <a:rPr lang="en-US" sz="1350" b="1" dirty="0">
                <a:solidFill>
                  <a:srgbClr val="15181D"/>
                </a:solidFill>
                <a:latin typeface="Calibri" pitchFamily="34" charset="0"/>
                <a:ea typeface="Calibri" pitchFamily="34" charset="-122"/>
                <a:cs typeface="Calibri" pitchFamily="34" charset="-120"/>
              </a:rPr>
              <a:t>Validate</a:t>
            </a:r>
            <a:endParaRPr lang="en-US" sz="1350" dirty="0"/>
          </a:p>
        </p:txBody>
      </p:sp>
      <p:sp>
        <p:nvSpPr>
          <p:cNvPr id="10" name="Text 8"/>
          <p:cNvSpPr/>
          <p:nvPr/>
        </p:nvSpPr>
        <p:spPr>
          <a:xfrm>
            <a:off x="3154680" y="2395728"/>
            <a:ext cx="4480560" cy="65836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Nine rules evaluated against staging. Results written to governance regardless of outcome.</a:t>
            </a:r>
            <a:endParaRPr lang="en-US" sz="1150" dirty="0"/>
          </a:p>
        </p:txBody>
      </p:sp>
      <p:sp>
        <p:nvSpPr>
          <p:cNvPr id="11" name="Text 9"/>
          <p:cNvSpPr/>
          <p:nvPr/>
        </p:nvSpPr>
        <p:spPr>
          <a:xfrm>
            <a:off x="685800" y="3145536"/>
            <a:ext cx="548640" cy="658368"/>
          </a:xfrm>
          <a:prstGeom prst="rect">
            <a:avLst/>
          </a:prstGeom>
          <a:noFill/>
          <a:ln/>
        </p:spPr>
        <p:txBody>
          <a:bodyPr wrap="square" lIns="0" tIns="0" rIns="0" bIns="0" rtlCol="0" anchor="ctr"/>
          <a:lstStyle/>
          <a:p>
            <a:pPr marL="0" indent="0">
              <a:buNone/>
            </a:pPr>
            <a:r>
              <a:rPr lang="en-US" sz="1700" b="1" dirty="0">
                <a:solidFill>
                  <a:srgbClr val="C8322B"/>
                </a:solidFill>
                <a:latin typeface="Courier New" pitchFamily="34" charset="0"/>
                <a:ea typeface="Courier New" pitchFamily="34" charset="-122"/>
                <a:cs typeface="Courier New" pitchFamily="34" charset="-120"/>
              </a:rPr>
              <a:t>03</a:t>
            </a:r>
            <a:endParaRPr lang="en-US" sz="1700" dirty="0"/>
          </a:p>
        </p:txBody>
      </p:sp>
      <p:sp>
        <p:nvSpPr>
          <p:cNvPr id="12" name="Text 10"/>
          <p:cNvSpPr/>
          <p:nvPr/>
        </p:nvSpPr>
        <p:spPr>
          <a:xfrm>
            <a:off x="1280160" y="3145536"/>
            <a:ext cx="1828800" cy="658368"/>
          </a:xfrm>
          <a:prstGeom prst="rect">
            <a:avLst/>
          </a:prstGeom>
          <a:noFill/>
          <a:ln/>
        </p:spPr>
        <p:txBody>
          <a:bodyPr wrap="square" lIns="0" tIns="0" rIns="0" bIns="0" rtlCol="0" anchor="ctr"/>
          <a:lstStyle/>
          <a:p>
            <a:pPr marL="0" indent="0">
              <a:buNone/>
            </a:pPr>
            <a:r>
              <a:rPr lang="en-US" sz="1350" b="1" dirty="0">
                <a:solidFill>
                  <a:srgbClr val="15181D"/>
                </a:solidFill>
                <a:latin typeface="Calibri" pitchFamily="34" charset="0"/>
                <a:ea typeface="Calibri" pitchFamily="34" charset="-122"/>
                <a:cs typeface="Calibri" pitchFamily="34" charset="-120"/>
              </a:rPr>
              <a:t>Gate</a:t>
            </a:r>
            <a:endParaRPr lang="en-US" sz="1350" dirty="0"/>
          </a:p>
        </p:txBody>
      </p:sp>
      <p:sp>
        <p:nvSpPr>
          <p:cNvPr id="13" name="Text 11"/>
          <p:cNvSpPr/>
          <p:nvPr/>
        </p:nvSpPr>
        <p:spPr>
          <a:xfrm>
            <a:off x="3154680" y="3145536"/>
            <a:ext cx="4480560" cy="65836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Any ERROR-severity failure raises. Nothing reaches core.</a:t>
            </a:r>
            <a:endParaRPr lang="en-US" sz="1150" dirty="0"/>
          </a:p>
        </p:txBody>
      </p:sp>
      <p:sp>
        <p:nvSpPr>
          <p:cNvPr id="14" name="Text 12"/>
          <p:cNvSpPr/>
          <p:nvPr/>
        </p:nvSpPr>
        <p:spPr>
          <a:xfrm>
            <a:off x="685800" y="3895344"/>
            <a:ext cx="548640" cy="658368"/>
          </a:xfrm>
          <a:prstGeom prst="rect">
            <a:avLst/>
          </a:prstGeom>
          <a:noFill/>
          <a:ln/>
        </p:spPr>
        <p:txBody>
          <a:bodyPr wrap="square" lIns="0" tIns="0" rIns="0" bIns="0" rtlCol="0" anchor="ctr"/>
          <a:lstStyle/>
          <a:p>
            <a:pPr marL="0" indent="0">
              <a:buNone/>
            </a:pPr>
            <a:r>
              <a:rPr lang="en-US" sz="1700" b="1" dirty="0">
                <a:solidFill>
                  <a:srgbClr val="C8322B"/>
                </a:solidFill>
                <a:latin typeface="Courier New" pitchFamily="34" charset="0"/>
                <a:ea typeface="Courier New" pitchFamily="34" charset="-122"/>
                <a:cs typeface="Courier New" pitchFamily="34" charset="-120"/>
              </a:rPr>
              <a:t>04</a:t>
            </a:r>
            <a:endParaRPr lang="en-US" sz="1700" dirty="0"/>
          </a:p>
        </p:txBody>
      </p:sp>
      <p:sp>
        <p:nvSpPr>
          <p:cNvPr id="15" name="Text 13"/>
          <p:cNvSpPr/>
          <p:nvPr/>
        </p:nvSpPr>
        <p:spPr>
          <a:xfrm>
            <a:off x="1280160" y="3895344"/>
            <a:ext cx="1828800" cy="658368"/>
          </a:xfrm>
          <a:prstGeom prst="rect">
            <a:avLst/>
          </a:prstGeom>
          <a:noFill/>
          <a:ln/>
        </p:spPr>
        <p:txBody>
          <a:bodyPr wrap="square" lIns="0" tIns="0" rIns="0" bIns="0" rtlCol="0" anchor="ctr"/>
          <a:lstStyle/>
          <a:p>
            <a:pPr marL="0" indent="0">
              <a:buNone/>
            </a:pPr>
            <a:r>
              <a:rPr lang="en-US" sz="1350" b="1" dirty="0">
                <a:solidFill>
                  <a:srgbClr val="15181D"/>
                </a:solidFill>
                <a:latin typeface="Calibri" pitchFamily="34" charset="0"/>
                <a:ea typeface="Calibri" pitchFamily="34" charset="-122"/>
                <a:cs typeface="Calibri" pitchFamily="34" charset="-120"/>
              </a:rPr>
              <a:t>Transform &amp; load</a:t>
            </a:r>
            <a:endParaRPr lang="en-US" sz="1350" dirty="0"/>
          </a:p>
        </p:txBody>
      </p:sp>
      <p:sp>
        <p:nvSpPr>
          <p:cNvPr id="16" name="Text 14"/>
          <p:cNvSpPr/>
          <p:nvPr/>
        </p:nvSpPr>
        <p:spPr>
          <a:xfrm>
            <a:off x="3154680" y="3895344"/>
            <a:ext cx="4480560" cy="65836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Recode class, populate dimensions, load facts. Edges deduplicated and self-loops dropped.</a:t>
            </a:r>
            <a:endParaRPr lang="en-US" sz="1150" dirty="0"/>
          </a:p>
        </p:txBody>
      </p:sp>
      <p:sp>
        <p:nvSpPr>
          <p:cNvPr id="17" name="Text 15"/>
          <p:cNvSpPr/>
          <p:nvPr/>
        </p:nvSpPr>
        <p:spPr>
          <a:xfrm>
            <a:off x="685800" y="4645152"/>
            <a:ext cx="548640" cy="658368"/>
          </a:xfrm>
          <a:prstGeom prst="rect">
            <a:avLst/>
          </a:prstGeom>
          <a:noFill/>
          <a:ln/>
        </p:spPr>
        <p:txBody>
          <a:bodyPr wrap="square" lIns="0" tIns="0" rIns="0" bIns="0" rtlCol="0" anchor="ctr"/>
          <a:lstStyle/>
          <a:p>
            <a:pPr marL="0" indent="0">
              <a:buNone/>
            </a:pPr>
            <a:r>
              <a:rPr lang="en-US" sz="1700" b="1" dirty="0">
                <a:solidFill>
                  <a:srgbClr val="C8322B"/>
                </a:solidFill>
                <a:latin typeface="Courier New" pitchFamily="34" charset="0"/>
                <a:ea typeface="Courier New" pitchFamily="34" charset="-122"/>
                <a:cs typeface="Courier New" pitchFamily="34" charset="-120"/>
              </a:rPr>
              <a:t>05</a:t>
            </a:r>
            <a:endParaRPr lang="en-US" sz="1700" dirty="0"/>
          </a:p>
        </p:txBody>
      </p:sp>
      <p:sp>
        <p:nvSpPr>
          <p:cNvPr id="18" name="Text 16"/>
          <p:cNvSpPr/>
          <p:nvPr/>
        </p:nvSpPr>
        <p:spPr>
          <a:xfrm>
            <a:off x="1280160" y="4645152"/>
            <a:ext cx="1828800" cy="658368"/>
          </a:xfrm>
          <a:prstGeom prst="rect">
            <a:avLst/>
          </a:prstGeom>
          <a:noFill/>
          <a:ln/>
        </p:spPr>
        <p:txBody>
          <a:bodyPr wrap="square" lIns="0" tIns="0" rIns="0" bIns="0" rtlCol="0" anchor="ctr"/>
          <a:lstStyle/>
          <a:p>
            <a:pPr marL="0" indent="0">
              <a:buNone/>
            </a:pPr>
            <a:r>
              <a:rPr lang="en-US" sz="1350" b="1" dirty="0">
                <a:solidFill>
                  <a:srgbClr val="15181D"/>
                </a:solidFill>
                <a:latin typeface="Calibri" pitchFamily="34" charset="0"/>
                <a:ea typeface="Calibri" pitchFamily="34" charset="-122"/>
                <a:cs typeface="Calibri" pitchFamily="34" charset="-120"/>
              </a:rPr>
              <a:t>Build</a:t>
            </a:r>
            <a:endParaRPr lang="en-US" sz="1350" dirty="0"/>
          </a:p>
        </p:txBody>
      </p:sp>
      <p:sp>
        <p:nvSpPr>
          <p:cNvPr id="19" name="Text 17"/>
          <p:cNvSpPr/>
          <p:nvPr/>
        </p:nvSpPr>
        <p:spPr>
          <a:xfrm>
            <a:off x="3154680" y="4645152"/>
            <a:ext cx="4480560" cy="658368"/>
          </a:xfrm>
          <a:prstGeom prst="rect">
            <a:avLst/>
          </a:prstGeom>
          <a:noFill/>
          <a:ln/>
        </p:spPr>
        <p:txBody>
          <a:bodyPr wrap="square" lIns="0" tIns="0" rIns="0" bIns="0" rtlCol="0" anchor="ctr"/>
          <a:lstStyle/>
          <a:p>
            <a:pPr marL="0" indent="0">
              <a:lnSpc>
                <a:spcPts val="1600"/>
              </a:lnSpc>
              <a:buNone/>
            </a:pPr>
            <a:r>
              <a:rPr lang="en-US" sz="1150" dirty="0">
                <a:solidFill>
                  <a:srgbClr val="48586B"/>
                </a:solidFill>
                <a:latin typeface="Calibri" pitchFamily="34" charset="0"/>
                <a:ea typeface="Calibri" pitchFamily="34" charset="-122"/>
                <a:cs typeface="Calibri" pitchFamily="34" charset="-120"/>
              </a:rPr>
              <a:t>Indexes, extended statistics, analytics and analysis layers.</a:t>
            </a:r>
            <a:endParaRPr lang="en-US" sz="1150" dirty="0"/>
          </a:p>
        </p:txBody>
      </p:sp>
      <p:sp>
        <p:nvSpPr>
          <p:cNvPr id="20" name="Shape 18"/>
          <p:cNvSpPr/>
          <p:nvPr/>
        </p:nvSpPr>
        <p:spPr>
          <a:xfrm>
            <a:off x="8001000" y="1645920"/>
            <a:ext cx="3474720" cy="1965960"/>
          </a:xfrm>
          <a:prstGeom prst="roundRect">
            <a:avLst>
              <a:gd name="adj" fmla="val 1395"/>
            </a:avLst>
          </a:prstGeom>
          <a:solidFill>
            <a:srgbClr val="F1F3F5"/>
          </a:solidFill>
          <a:ln w="12700">
            <a:solidFill>
              <a:srgbClr val="F1F3F5"/>
            </a:solidFill>
            <a:prstDash val="solid"/>
          </a:ln>
        </p:spPr>
        <p:txBody>
          <a:bodyPr/>
          <a:lstStyle/>
          <a:p>
            <a:endParaRPr lang="en-US"/>
          </a:p>
        </p:txBody>
      </p:sp>
      <p:sp>
        <p:nvSpPr>
          <p:cNvPr id="21" name="Text 19"/>
          <p:cNvSpPr/>
          <p:nvPr/>
        </p:nvSpPr>
        <p:spPr>
          <a:xfrm>
            <a:off x="8257032" y="1810512"/>
            <a:ext cx="2971800" cy="256032"/>
          </a:xfrm>
          <a:prstGeom prst="rect">
            <a:avLst/>
          </a:prstGeom>
          <a:noFill/>
          <a:ln/>
        </p:spPr>
        <p:txBody>
          <a:bodyPr wrap="square" lIns="0" tIns="0" rIns="0" bIns="0" rtlCol="0" anchor="ctr"/>
          <a:lstStyle/>
          <a:p>
            <a:pPr marL="0" indent="0">
              <a:buNone/>
            </a:pPr>
            <a:r>
              <a:rPr lang="en-US" sz="1100" b="1" kern="0" spc="140" dirty="0">
                <a:solidFill>
                  <a:srgbClr val="6E7A88"/>
                </a:solidFill>
                <a:latin typeface="Calibri" pitchFamily="34" charset="0"/>
                <a:ea typeface="Calibri" pitchFamily="34" charset="-122"/>
                <a:cs typeface="Calibri" pitchFamily="34" charset="-120"/>
              </a:rPr>
              <a:t>Measured</a:t>
            </a:r>
            <a:endParaRPr lang="en-US" sz="1100" dirty="0"/>
          </a:p>
        </p:txBody>
      </p:sp>
      <p:sp>
        <p:nvSpPr>
          <p:cNvPr id="22" name="Text 20"/>
          <p:cNvSpPr/>
          <p:nvPr/>
        </p:nvSpPr>
        <p:spPr>
          <a:xfrm>
            <a:off x="8257032" y="2084832"/>
            <a:ext cx="2971800" cy="502920"/>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40–55 s</a:t>
            </a:r>
            <a:endParaRPr lang="en-US" sz="3000" dirty="0"/>
          </a:p>
        </p:txBody>
      </p:sp>
      <p:sp>
        <p:nvSpPr>
          <p:cNvPr id="23" name="Text 21"/>
          <p:cNvSpPr/>
          <p:nvPr/>
        </p:nvSpPr>
        <p:spPr>
          <a:xfrm>
            <a:off x="8257032" y="2633472"/>
            <a:ext cx="2971800" cy="822960"/>
          </a:xfrm>
          <a:prstGeom prst="rect">
            <a:avLst/>
          </a:prstGeom>
          <a:noFill/>
          <a:ln/>
        </p:spPr>
        <p:txBody>
          <a:bodyPr wrap="square" lIns="0" tIns="0" rIns="0" bIns="0" rtlCol="0" anchor="ctr"/>
          <a:lstStyle/>
          <a:p>
            <a:pPr marL="0" indent="0">
              <a:lnSpc>
                <a:spcPts val="1600"/>
              </a:lnSpc>
              <a:buNone/>
            </a:pPr>
            <a:r>
              <a:rPr lang="en-US" sz="1100" dirty="0">
                <a:solidFill>
                  <a:srgbClr val="48586B"/>
                </a:solidFill>
                <a:latin typeface="Calibri" pitchFamily="34" charset="0"/>
                <a:ea typeface="Calibri" pitchFamily="34" charset="-122"/>
                <a:cs typeface="Calibri" pitchFamily="34" charset="-120"/>
              </a:rPr>
              <a:t>full load, extract through analytics. Spread is page-cache state on the 690 MB feature file, not the pipeline.</a:t>
            </a:r>
            <a:endParaRPr lang="en-US" sz="1100" dirty="0"/>
          </a:p>
        </p:txBody>
      </p:sp>
      <p:sp>
        <p:nvSpPr>
          <p:cNvPr id="24" name="Shape 22"/>
          <p:cNvSpPr/>
          <p:nvPr/>
        </p:nvSpPr>
        <p:spPr>
          <a:xfrm>
            <a:off x="8001000" y="3749040"/>
            <a:ext cx="3474720" cy="2194560"/>
          </a:xfrm>
          <a:prstGeom prst="roundRect">
            <a:avLst>
              <a:gd name="adj" fmla="val 1250"/>
            </a:avLst>
          </a:prstGeom>
          <a:solidFill>
            <a:srgbClr val="F1F3F5"/>
          </a:solidFill>
          <a:ln w="12700">
            <a:solidFill>
              <a:srgbClr val="F1F3F5"/>
            </a:solidFill>
            <a:prstDash val="solid"/>
          </a:ln>
        </p:spPr>
        <p:txBody>
          <a:bodyPr/>
          <a:lstStyle/>
          <a:p>
            <a:endParaRPr lang="en-US"/>
          </a:p>
        </p:txBody>
      </p:sp>
      <p:sp>
        <p:nvSpPr>
          <p:cNvPr id="25" name="Text 23"/>
          <p:cNvSpPr/>
          <p:nvPr/>
        </p:nvSpPr>
        <p:spPr>
          <a:xfrm>
            <a:off x="8257032" y="3913632"/>
            <a:ext cx="2971800" cy="256032"/>
          </a:xfrm>
          <a:prstGeom prst="rect">
            <a:avLst/>
          </a:prstGeom>
          <a:noFill/>
          <a:ln/>
        </p:spPr>
        <p:txBody>
          <a:bodyPr wrap="square" lIns="0" tIns="0" rIns="0" bIns="0" rtlCol="0" anchor="ctr"/>
          <a:lstStyle/>
          <a:p>
            <a:pPr marL="0" indent="0">
              <a:buNone/>
            </a:pPr>
            <a:r>
              <a:rPr lang="en-US" sz="1100" b="1" kern="0" spc="140" dirty="0">
                <a:solidFill>
                  <a:srgbClr val="6E7A88"/>
                </a:solidFill>
                <a:latin typeface="Calibri" pitchFamily="34" charset="0"/>
                <a:ea typeface="Calibri" pitchFamily="34" charset="-122"/>
                <a:cs typeface="Calibri" pitchFamily="34" charset="-120"/>
              </a:rPr>
              <a:t>Idempotent</a:t>
            </a:r>
            <a:endParaRPr lang="en-US" sz="1100" dirty="0"/>
          </a:p>
        </p:txBody>
      </p:sp>
      <p:sp>
        <p:nvSpPr>
          <p:cNvPr id="26" name="Text 24"/>
          <p:cNvSpPr/>
          <p:nvPr/>
        </p:nvSpPr>
        <p:spPr>
          <a:xfrm>
            <a:off x="8257032" y="4224528"/>
            <a:ext cx="2971800" cy="155448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Re-running the load against a populated database rebuilds it rather than failing. A first run and a fifth run produce the same database — which is what makes the result reproducible by someone other than its author.</a:t>
            </a:r>
            <a:endParaRPr lang="en-US" sz="1150" dirty="0"/>
          </a:p>
        </p:txBody>
      </p:sp>
      <p:sp>
        <p:nvSpPr>
          <p:cNvPr id="27" name="Text 25"/>
          <p:cNvSpPr/>
          <p:nvPr/>
        </p:nvSpPr>
        <p:spPr>
          <a:xfrm>
            <a:off x="685800" y="5532120"/>
            <a:ext cx="6949440" cy="68580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Extract, validation and load run inside a single transaction. A failure at step 3 leaves the database exactly as it was — there is no partial state to reconcile and no half-loaded table to explain.</a:t>
            </a:r>
            <a:endParaRPr lang="en-US" sz="1200" dirty="0"/>
          </a:p>
        </p:txBody>
      </p:sp>
      <p:sp>
        <p:nvSpPr>
          <p:cNvPr id="28" name="Text 26"/>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9</a:t>
            </a:r>
            <a:endParaRPr lang="en-US" sz="1000" dirty="0"/>
          </a:p>
        </p:txBody>
      </p:sp>
      <p:sp>
        <p:nvSpPr>
          <p:cNvPr id="29" name="Text 27"/>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 MANAGEMENT  ·  SELECT / WHERE</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Filtering, and why the index matters</a:t>
            </a:r>
            <a:endParaRPr lang="en-US" sz="3000" dirty="0"/>
          </a:p>
        </p:txBody>
      </p:sp>
      <p:sp>
        <p:nvSpPr>
          <p:cNvPr id="5" name="Shape 3"/>
          <p:cNvSpPr/>
          <p:nvPr/>
        </p:nvSpPr>
        <p:spPr>
          <a:xfrm>
            <a:off x="685800" y="1645920"/>
            <a:ext cx="5760720" cy="1783080"/>
          </a:xfrm>
          <a:prstGeom prst="roundRect">
            <a:avLst>
              <a:gd name="adj" fmla="val 1538"/>
            </a:avLst>
          </a:prstGeom>
          <a:solidFill>
            <a:srgbClr val="15181D"/>
          </a:solidFill>
          <a:ln w="12700">
            <a:solidFill>
              <a:srgbClr val="15181D"/>
            </a:solidFill>
            <a:prstDash val="solid"/>
          </a:ln>
        </p:spPr>
        <p:txBody>
          <a:bodyPr/>
          <a:lstStyle/>
          <a:p>
            <a:endParaRPr lang="en-US"/>
          </a:p>
        </p:txBody>
      </p:sp>
      <p:sp>
        <p:nvSpPr>
          <p:cNvPr id="6" name="Text 4"/>
          <p:cNvSpPr/>
          <p:nvPr/>
        </p:nvSpPr>
        <p:spPr>
          <a:xfrm>
            <a:off x="886968" y="1810512"/>
            <a:ext cx="5358384" cy="145389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SELECT 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FROM   core.transaction</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WHERE  time_step = 32</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AND  class_id  = 1;    -- illicit</a:t>
            </a:r>
            <a:endParaRPr lang="en-US" sz="1050" dirty="0"/>
          </a:p>
        </p:txBody>
      </p:sp>
      <p:sp>
        <p:nvSpPr>
          <p:cNvPr id="7" name="Text 5"/>
          <p:cNvSpPr/>
          <p:nvPr/>
        </p:nvSpPr>
        <p:spPr>
          <a:xfrm>
            <a:off x="685800" y="3611880"/>
            <a:ext cx="5760720" cy="274320"/>
          </a:xfrm>
          <a:prstGeom prst="rect">
            <a:avLst/>
          </a:prstGeom>
          <a:noFill/>
          <a:ln/>
        </p:spPr>
        <p:txBody>
          <a:bodyPr wrap="square" lIns="0" tIns="0" rIns="0" bIns="0" rtlCol="0" anchor="ctr"/>
          <a:lstStyle/>
          <a:p>
            <a:pPr marL="0" indent="0">
              <a:buNone/>
            </a:pPr>
            <a:r>
              <a:rPr lang="en-US" sz="1100" b="1" kern="0" spc="140" dirty="0">
                <a:solidFill>
                  <a:srgbClr val="6E7A88"/>
                </a:solidFill>
                <a:latin typeface="Calibri" pitchFamily="34" charset="0"/>
                <a:ea typeface="Calibri" pitchFamily="34" charset="-122"/>
                <a:cs typeface="Calibri" pitchFamily="34" charset="-120"/>
              </a:rPr>
              <a:t>Result</a:t>
            </a:r>
            <a:endParaRPr lang="en-US" sz="1100" dirty="0"/>
          </a:p>
        </p:txBody>
      </p:sp>
      <p:sp>
        <p:nvSpPr>
          <p:cNvPr id="8" name="Text 6"/>
          <p:cNvSpPr/>
          <p:nvPr/>
        </p:nvSpPr>
        <p:spPr>
          <a:xfrm>
            <a:off x="685800" y="3886200"/>
            <a:ext cx="5760720" cy="365760"/>
          </a:xfrm>
          <a:prstGeom prst="rect">
            <a:avLst/>
          </a:prstGeom>
          <a:noFill/>
          <a:ln/>
        </p:spPr>
        <p:txBody>
          <a:bodyPr wrap="square" lIns="0" tIns="0" rIns="0" bIns="0" rtlCol="0" anchor="ctr"/>
          <a:lstStyle/>
          <a:p>
            <a:pPr marL="0" indent="0">
              <a:buNone/>
            </a:pPr>
            <a:r>
              <a:rPr lang="en-US" sz="1700" b="1" dirty="0">
                <a:solidFill>
                  <a:srgbClr val="15181D"/>
                </a:solidFill>
                <a:latin typeface="Calibri" pitchFamily="34" charset="0"/>
                <a:ea typeface="Calibri" pitchFamily="34" charset="-122"/>
                <a:cs typeface="Calibri" pitchFamily="34" charset="-120"/>
              </a:rPr>
              <a:t>342 illicit transactions in period 32</a:t>
            </a:r>
            <a:endParaRPr lang="en-US" sz="1700" dirty="0"/>
          </a:p>
        </p:txBody>
      </p:sp>
      <p:sp>
        <p:nvSpPr>
          <p:cNvPr id="9" name="Shape 7"/>
          <p:cNvSpPr/>
          <p:nvPr/>
        </p:nvSpPr>
        <p:spPr>
          <a:xfrm>
            <a:off x="685800" y="4434840"/>
            <a:ext cx="5760720" cy="1371600"/>
          </a:xfrm>
          <a:prstGeom prst="roundRect">
            <a:avLst>
              <a:gd name="adj" fmla="val 2000"/>
            </a:avLst>
          </a:prstGeom>
          <a:solidFill>
            <a:srgbClr val="15181D"/>
          </a:solidFill>
          <a:ln w="12700">
            <a:solidFill>
              <a:srgbClr val="15181D"/>
            </a:solidFill>
            <a:prstDash val="solid"/>
          </a:ln>
        </p:spPr>
        <p:txBody>
          <a:bodyPr/>
          <a:lstStyle/>
          <a:p>
            <a:endParaRPr lang="en-US"/>
          </a:p>
        </p:txBody>
      </p:sp>
      <p:sp>
        <p:nvSpPr>
          <p:cNvPr id="10" name="Text 8"/>
          <p:cNvSpPr/>
          <p:nvPr/>
        </p:nvSpPr>
        <p:spPr>
          <a:xfrm>
            <a:off x="886968" y="4599432"/>
            <a:ext cx="5358384" cy="104241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Index Scan using ix_transaction_labelled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Index Cond: (class_id = 1 AND time_step = 32)</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Execution Time: 0.39 ms</a:t>
            </a:r>
            <a:endParaRPr lang="en-US" sz="1050" dirty="0"/>
          </a:p>
        </p:txBody>
      </p:sp>
      <p:sp>
        <p:nvSpPr>
          <p:cNvPr id="11" name="Shape 9"/>
          <p:cNvSpPr/>
          <p:nvPr/>
        </p:nvSpPr>
        <p:spPr>
          <a:xfrm>
            <a:off x="6903720" y="1645920"/>
            <a:ext cx="4572000" cy="4160520"/>
          </a:xfrm>
          <a:prstGeom prst="roundRect">
            <a:avLst>
              <a:gd name="adj" fmla="val 659"/>
            </a:avLst>
          </a:prstGeom>
          <a:solidFill>
            <a:srgbClr val="F1F3F5"/>
          </a:solidFill>
          <a:ln w="12700">
            <a:solidFill>
              <a:srgbClr val="F1F3F5"/>
            </a:solidFill>
            <a:prstDash val="solid"/>
          </a:ln>
        </p:spPr>
        <p:txBody>
          <a:bodyPr/>
          <a:lstStyle/>
          <a:p>
            <a:endParaRPr lang="en-US"/>
          </a:p>
        </p:txBody>
      </p:sp>
      <p:sp>
        <p:nvSpPr>
          <p:cNvPr id="12" name="Text 10"/>
          <p:cNvSpPr/>
          <p:nvPr/>
        </p:nvSpPr>
        <p:spPr>
          <a:xfrm>
            <a:off x="7178040" y="1828800"/>
            <a:ext cx="4023360" cy="548640"/>
          </a:xfrm>
          <a:prstGeom prst="rect">
            <a:avLst/>
          </a:prstGeom>
          <a:noFill/>
          <a:ln/>
        </p:spPr>
        <p:txBody>
          <a:bodyPr wrap="square" lIns="0" tIns="0" rIns="0" bIns="0" rtlCol="0" anchor="ctr"/>
          <a:lstStyle/>
          <a:p>
            <a:pPr marL="0" indent="0">
              <a:lnSpc>
                <a:spcPts val="2100"/>
              </a:lnSpc>
              <a:buNone/>
            </a:pPr>
            <a:r>
              <a:rPr lang="en-US" sz="1500" b="1" dirty="0">
                <a:solidFill>
                  <a:srgbClr val="15181D"/>
                </a:solidFill>
                <a:latin typeface="Calibri" pitchFamily="34" charset="0"/>
                <a:ea typeface="Calibri" pitchFamily="34" charset="-122"/>
                <a:cs typeface="Calibri" pitchFamily="34" charset="-120"/>
              </a:rPr>
              <a:t>A partial index, because 77% is noise</a:t>
            </a:r>
            <a:endParaRPr lang="en-US" sz="1500" dirty="0"/>
          </a:p>
        </p:txBody>
      </p:sp>
      <p:sp>
        <p:nvSpPr>
          <p:cNvPr id="13" name="Text 11"/>
          <p:cNvSpPr/>
          <p:nvPr/>
        </p:nvSpPr>
        <p:spPr>
          <a:xfrm>
            <a:off x="7178040" y="2395728"/>
            <a:ext cx="4023360" cy="320040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ix_transaction_labelled indexes only rows where the class is known. Three quarters of this table is unlabelled and no supervised query ever touches it, so indexing it would cost storage and write time to serve nothing.</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The filter is on two columns whose selectivity is correlated — periods differ in how many illicit transactions they contain. Extended statistics on the pair tell the planner that, so it estimates the combination instead of multiplying two independent guesses.</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0.39 ms on a 203,769-row table is the schema doing the work, not the hardware.</a:t>
            </a:r>
            <a:endParaRPr lang="en-US" sz="1150" dirty="0"/>
          </a:p>
        </p:txBody>
      </p:sp>
      <p:sp>
        <p:nvSpPr>
          <p:cNvPr id="14" name="Text 12"/>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10</a:t>
            </a:r>
            <a:endParaRPr lang="en-US" sz="1000" dirty="0"/>
          </a:p>
        </p:txBody>
      </p:sp>
      <p:sp>
        <p:nvSpPr>
          <p:cNvPr id="15" name="Text 13"/>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 MANAGEMENT  ·  JOIN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Turning edges into counterparty exposure</a:t>
            </a:r>
            <a:endParaRPr lang="en-US" sz="3000" dirty="0"/>
          </a:p>
        </p:txBody>
      </p:sp>
      <p:sp>
        <p:nvSpPr>
          <p:cNvPr id="5" name="Shape 3"/>
          <p:cNvSpPr/>
          <p:nvPr/>
        </p:nvSpPr>
        <p:spPr>
          <a:xfrm>
            <a:off x="685800" y="1645920"/>
            <a:ext cx="6492240" cy="2286000"/>
          </a:xfrm>
          <a:prstGeom prst="roundRect">
            <a:avLst>
              <a:gd name="adj" fmla="val 1200"/>
            </a:avLst>
          </a:prstGeom>
          <a:solidFill>
            <a:srgbClr val="15181D"/>
          </a:solidFill>
          <a:ln w="12700">
            <a:solidFill>
              <a:srgbClr val="15181D"/>
            </a:solidFill>
            <a:prstDash val="solid"/>
          </a:ln>
        </p:spPr>
        <p:txBody>
          <a:bodyPr/>
          <a:lstStyle/>
          <a:p>
            <a:endParaRPr lang="en-US"/>
          </a:p>
        </p:txBody>
      </p:sp>
      <p:sp>
        <p:nvSpPr>
          <p:cNvPr id="6" name="Text 4"/>
          <p:cNvSpPr/>
          <p:nvPr/>
        </p:nvSpPr>
        <p:spPr>
          <a:xfrm>
            <a:off x="886968" y="1810512"/>
            <a:ext cx="6089904" cy="195681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SELECT t.tx_id,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COUNT(*) FILTER (WHERE n.class_id = 1) AS illicit_neighbours,</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COUNT(*) FILTER (WHERE n.class_id = 2) AS licit_neighbours</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FROM   core.transaction t</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JOIN   core.tx_flow     f ON f.src_tx_id = t.tx_id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OR f.dst_tx_id = t.tx_id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JOIN   core.transaction n ON n.tx_id = CASE</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WHEN f.src_tx_id = t.tx_id THEN f.dst_tx_id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ELSE f.src_tx_id END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GROUP  BY t.tx_id;</a:t>
            </a:r>
            <a:endParaRPr lang="en-US" sz="1050" dirty="0"/>
          </a:p>
        </p:txBody>
      </p:sp>
      <p:sp>
        <p:nvSpPr>
          <p:cNvPr id="7" name="Text 5"/>
          <p:cNvSpPr/>
          <p:nvPr/>
        </p:nvSpPr>
        <p:spPr>
          <a:xfrm>
            <a:off x="685800" y="4114800"/>
            <a:ext cx="6492240" cy="868680"/>
          </a:xfrm>
          <a:prstGeom prst="rect">
            <a:avLst/>
          </a:prstGeom>
          <a:noFill/>
          <a:ln/>
        </p:spPr>
        <p:txBody>
          <a:bodyPr wrap="square" lIns="0" tIns="0" rIns="0" bIns="0" rtlCol="0" anchor="ctr"/>
          <a:lstStyle/>
          <a:p>
            <a:pPr marL="0" indent="0">
              <a:lnSpc>
                <a:spcPts val="1900"/>
              </a:lnSpc>
              <a:buNone/>
            </a:pPr>
            <a:r>
              <a:rPr lang="en-US" sz="1250" dirty="0">
                <a:solidFill>
                  <a:srgbClr val="48586B"/>
                </a:solidFill>
                <a:latin typeface="Calibri" pitchFamily="34" charset="0"/>
                <a:ea typeface="Calibri" pitchFamily="34" charset="-122"/>
                <a:cs typeface="Calibri" pitchFamily="34" charset="-120"/>
              </a:rPr>
              <a:t>The transaction table is joined to itself through the edge table, so a row about one transaction can carry facts about the transactions it touches. This is the join that makes counterparty risk expressible at all — without it, every transaction is an island and no laundering typology can be stated.</a:t>
            </a:r>
            <a:endParaRPr lang="en-US" sz="1250" dirty="0"/>
          </a:p>
        </p:txBody>
      </p:sp>
      <p:sp>
        <p:nvSpPr>
          <p:cNvPr id="8" name="Shape 6"/>
          <p:cNvSpPr/>
          <p:nvPr/>
        </p:nvSpPr>
        <p:spPr>
          <a:xfrm>
            <a:off x="7635240" y="1645920"/>
            <a:ext cx="3840480" cy="1828800"/>
          </a:xfrm>
          <a:prstGeom prst="roundRect">
            <a:avLst>
              <a:gd name="adj" fmla="val 1500"/>
            </a:avLst>
          </a:prstGeom>
          <a:solidFill>
            <a:srgbClr val="F1F3F5"/>
          </a:solidFill>
          <a:ln w="12700">
            <a:solidFill>
              <a:srgbClr val="F1F3F5"/>
            </a:solidFill>
            <a:prstDash val="solid"/>
          </a:ln>
        </p:spPr>
        <p:txBody>
          <a:bodyPr/>
          <a:lstStyle/>
          <a:p>
            <a:endParaRPr lang="en-US"/>
          </a:p>
        </p:txBody>
      </p:sp>
      <p:sp>
        <p:nvSpPr>
          <p:cNvPr id="9" name="Text 7"/>
          <p:cNvSpPr/>
          <p:nvPr/>
        </p:nvSpPr>
        <p:spPr>
          <a:xfrm>
            <a:off x="7891272" y="1810512"/>
            <a:ext cx="3337560" cy="502920"/>
          </a:xfrm>
          <a:prstGeom prst="rect">
            <a:avLst/>
          </a:prstGeom>
          <a:noFill/>
          <a:ln/>
        </p:spPr>
        <p:txBody>
          <a:bodyPr wrap="square" lIns="0" tIns="0" rIns="0" bIns="0" rtlCol="0" anchor="ctr"/>
          <a:lstStyle/>
          <a:p>
            <a:pPr marL="0" indent="0">
              <a:lnSpc>
                <a:spcPts val="1900"/>
              </a:lnSpc>
              <a:buNone/>
            </a:pPr>
            <a:r>
              <a:rPr lang="en-US" sz="1350" b="1" dirty="0">
                <a:solidFill>
                  <a:srgbClr val="15181D"/>
                </a:solidFill>
                <a:latin typeface="Calibri" pitchFamily="34" charset="0"/>
                <a:ea typeface="Calibri" pitchFamily="34" charset="-122"/>
                <a:cs typeface="Calibri" pitchFamily="34" charset="-120"/>
              </a:rPr>
              <a:t>Materialised, not recomputed</a:t>
            </a:r>
            <a:endParaRPr lang="en-US" sz="1350" dirty="0"/>
          </a:p>
        </p:txBody>
      </p:sp>
      <p:sp>
        <p:nvSpPr>
          <p:cNvPr id="10" name="Text 8"/>
          <p:cNvSpPr/>
          <p:nvPr/>
        </p:nvSpPr>
        <p:spPr>
          <a:xfrm>
            <a:off x="7891272" y="2331720"/>
            <a:ext cx="3337560" cy="100584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This join is the input to several monitoring views, so it is stored as mv_illicit_exposure rather than re-run each time. Refresh cost is bounded and stated.</a:t>
            </a:r>
            <a:endParaRPr lang="en-US" sz="1150" dirty="0"/>
          </a:p>
        </p:txBody>
      </p:sp>
      <p:sp>
        <p:nvSpPr>
          <p:cNvPr id="11" name="Text 9"/>
          <p:cNvSpPr/>
          <p:nvPr/>
        </p:nvSpPr>
        <p:spPr>
          <a:xfrm>
            <a:off x="7635240" y="3657600"/>
            <a:ext cx="3840480" cy="274320"/>
          </a:xfrm>
          <a:prstGeom prst="rect">
            <a:avLst/>
          </a:prstGeom>
          <a:noFill/>
          <a:ln/>
        </p:spPr>
        <p:txBody>
          <a:bodyPr wrap="square" lIns="0" tIns="0" rIns="0" bIns="0" rtlCol="0" anchor="ctr"/>
          <a:lstStyle/>
          <a:p>
            <a:pPr marL="0" indent="0">
              <a:buNone/>
            </a:pPr>
            <a:r>
              <a:rPr lang="en-US" sz="1100" b="1" kern="0" spc="140" dirty="0">
                <a:solidFill>
                  <a:srgbClr val="6E7A88"/>
                </a:solidFill>
                <a:latin typeface="Calibri" pitchFamily="34" charset="0"/>
                <a:ea typeface="Calibri" pitchFamily="34" charset="-122"/>
                <a:cs typeface="Calibri" pitchFamily="34" charset="-120"/>
              </a:rPr>
              <a:t>Graph shape</a:t>
            </a:r>
            <a:endParaRPr lang="en-US" sz="1100" dirty="0"/>
          </a:p>
        </p:txBody>
      </p:sp>
      <p:sp>
        <p:nvSpPr>
          <p:cNvPr id="12" name="Text 10"/>
          <p:cNvSpPr/>
          <p:nvPr/>
        </p:nvSpPr>
        <p:spPr>
          <a:xfrm>
            <a:off x="7635240" y="3977640"/>
            <a:ext cx="1097280" cy="329184"/>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472</a:t>
            </a:r>
            <a:endParaRPr lang="en-US" sz="1500" dirty="0"/>
          </a:p>
        </p:txBody>
      </p:sp>
      <p:sp>
        <p:nvSpPr>
          <p:cNvPr id="13" name="Text 11"/>
          <p:cNvSpPr/>
          <p:nvPr/>
        </p:nvSpPr>
        <p:spPr>
          <a:xfrm>
            <a:off x="8823960" y="3977640"/>
            <a:ext cx="2651760" cy="329184"/>
          </a:xfrm>
          <a:prstGeom prst="rect">
            <a:avLst/>
          </a:prstGeom>
          <a:noFill/>
          <a:ln/>
        </p:spPr>
        <p:txBody>
          <a:bodyPr wrap="square" lIns="0" tIns="0" rIns="0" bIns="0" rtlCol="0" anchor="ctr"/>
          <a:lstStyle/>
          <a:p>
            <a:pPr marL="0" indent="0">
              <a:buNone/>
            </a:pPr>
            <a:r>
              <a:rPr lang="en-US" sz="1200" dirty="0">
                <a:solidFill>
                  <a:srgbClr val="48586B"/>
                </a:solidFill>
                <a:latin typeface="Calibri" pitchFamily="34" charset="0"/>
                <a:ea typeface="Calibri" pitchFamily="34" charset="-122"/>
                <a:cs typeface="Calibri" pitchFamily="34" charset="-120"/>
              </a:rPr>
              <a:t>highest fan-out</a:t>
            </a:r>
            <a:endParaRPr lang="en-US" sz="1200" dirty="0"/>
          </a:p>
        </p:txBody>
      </p:sp>
      <p:sp>
        <p:nvSpPr>
          <p:cNvPr id="14" name="Text 12"/>
          <p:cNvSpPr/>
          <p:nvPr/>
        </p:nvSpPr>
        <p:spPr>
          <a:xfrm>
            <a:off x="7635240" y="4434840"/>
            <a:ext cx="1097280" cy="329184"/>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284</a:t>
            </a:r>
            <a:endParaRPr lang="en-US" sz="1500" dirty="0"/>
          </a:p>
        </p:txBody>
      </p:sp>
      <p:sp>
        <p:nvSpPr>
          <p:cNvPr id="15" name="Text 13"/>
          <p:cNvSpPr/>
          <p:nvPr/>
        </p:nvSpPr>
        <p:spPr>
          <a:xfrm>
            <a:off x="8823960" y="4434840"/>
            <a:ext cx="2651760" cy="329184"/>
          </a:xfrm>
          <a:prstGeom prst="rect">
            <a:avLst/>
          </a:prstGeom>
          <a:noFill/>
          <a:ln/>
        </p:spPr>
        <p:txBody>
          <a:bodyPr wrap="square" lIns="0" tIns="0" rIns="0" bIns="0" rtlCol="0" anchor="ctr"/>
          <a:lstStyle/>
          <a:p>
            <a:pPr marL="0" indent="0">
              <a:buNone/>
            </a:pPr>
            <a:r>
              <a:rPr lang="en-US" sz="1200" dirty="0">
                <a:solidFill>
                  <a:srgbClr val="48586B"/>
                </a:solidFill>
                <a:latin typeface="Calibri" pitchFamily="34" charset="0"/>
                <a:ea typeface="Calibri" pitchFamily="34" charset="-122"/>
                <a:cs typeface="Calibri" pitchFamily="34" charset="-120"/>
              </a:rPr>
              <a:t>highest fan-in</a:t>
            </a:r>
            <a:endParaRPr lang="en-US" sz="1200" dirty="0"/>
          </a:p>
        </p:txBody>
      </p:sp>
      <p:sp>
        <p:nvSpPr>
          <p:cNvPr id="16" name="Text 14"/>
          <p:cNvSpPr/>
          <p:nvPr/>
        </p:nvSpPr>
        <p:spPr>
          <a:xfrm>
            <a:off x="7635240" y="4892040"/>
            <a:ext cx="1097280" cy="329184"/>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2.30</a:t>
            </a:r>
            <a:endParaRPr lang="en-US" sz="1500" dirty="0"/>
          </a:p>
        </p:txBody>
      </p:sp>
      <p:sp>
        <p:nvSpPr>
          <p:cNvPr id="17" name="Text 15"/>
          <p:cNvSpPr/>
          <p:nvPr/>
        </p:nvSpPr>
        <p:spPr>
          <a:xfrm>
            <a:off x="8823960" y="4892040"/>
            <a:ext cx="2651760" cy="329184"/>
          </a:xfrm>
          <a:prstGeom prst="rect">
            <a:avLst/>
          </a:prstGeom>
          <a:noFill/>
          <a:ln/>
        </p:spPr>
        <p:txBody>
          <a:bodyPr wrap="square" lIns="0" tIns="0" rIns="0" bIns="0" rtlCol="0" anchor="ctr"/>
          <a:lstStyle/>
          <a:p>
            <a:pPr marL="0" indent="0">
              <a:buNone/>
            </a:pPr>
            <a:r>
              <a:rPr lang="en-US" sz="1200" dirty="0">
                <a:solidFill>
                  <a:srgbClr val="48586B"/>
                </a:solidFill>
                <a:latin typeface="Calibri" pitchFamily="34" charset="0"/>
                <a:ea typeface="Calibri" pitchFamily="34" charset="-122"/>
                <a:cs typeface="Calibri" pitchFamily="34" charset="-120"/>
              </a:rPr>
              <a:t>mean degree</a:t>
            </a:r>
            <a:endParaRPr lang="en-US" sz="1200" dirty="0"/>
          </a:p>
        </p:txBody>
      </p:sp>
      <p:sp>
        <p:nvSpPr>
          <p:cNvPr id="18" name="Text 16"/>
          <p:cNvSpPr/>
          <p:nvPr/>
        </p:nvSpPr>
        <p:spPr>
          <a:xfrm>
            <a:off x="7635240" y="5349240"/>
            <a:ext cx="1097280" cy="329184"/>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a:t>
            </a:r>
            <a:endParaRPr lang="en-US" sz="1500" dirty="0"/>
          </a:p>
        </p:txBody>
      </p:sp>
      <p:sp>
        <p:nvSpPr>
          <p:cNvPr id="19" name="Text 17"/>
          <p:cNvSpPr/>
          <p:nvPr/>
        </p:nvSpPr>
        <p:spPr>
          <a:xfrm>
            <a:off x="8823960" y="5349240"/>
            <a:ext cx="2651760" cy="329184"/>
          </a:xfrm>
          <a:prstGeom prst="rect">
            <a:avLst/>
          </a:prstGeom>
          <a:noFill/>
          <a:ln/>
        </p:spPr>
        <p:txBody>
          <a:bodyPr wrap="square" lIns="0" tIns="0" rIns="0" bIns="0" rtlCol="0" anchor="ctr"/>
          <a:lstStyle/>
          <a:p>
            <a:pPr marL="0" indent="0">
              <a:buNone/>
            </a:pPr>
            <a:r>
              <a:rPr lang="en-US" sz="1200" dirty="0">
                <a:solidFill>
                  <a:srgbClr val="48586B"/>
                </a:solidFill>
                <a:latin typeface="Calibri" pitchFamily="34" charset="0"/>
                <a:ea typeface="Calibri" pitchFamily="34" charset="-122"/>
                <a:cs typeface="Calibri" pitchFamily="34" charset="-120"/>
              </a:rPr>
              <a:t>isolated nodes</a:t>
            </a:r>
            <a:endParaRPr lang="en-US" sz="1200" dirty="0"/>
          </a:p>
        </p:txBody>
      </p:sp>
      <p:sp>
        <p:nvSpPr>
          <p:cNvPr id="20" name="Text 18"/>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11</a:t>
            </a:r>
            <a:endParaRPr lang="en-US" sz="1000" dirty="0"/>
          </a:p>
        </p:txBody>
      </p:sp>
      <p:sp>
        <p:nvSpPr>
          <p:cNvPr id="21" name="Text 19"/>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DATA MANAGEMENT  ·  GROUP BY + AGGREGATES</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One query, and the series changes shape</a:t>
            </a:r>
            <a:endParaRPr lang="en-US" sz="3000" dirty="0"/>
          </a:p>
        </p:txBody>
      </p:sp>
      <p:sp>
        <p:nvSpPr>
          <p:cNvPr id="5" name="Text 3"/>
          <p:cNvSpPr/>
          <p:nvPr/>
        </p:nvSpPr>
        <p:spPr>
          <a:xfrm>
            <a:off x="685800" y="1554480"/>
            <a:ext cx="10789920" cy="274320"/>
          </a:xfrm>
          <a:prstGeom prst="rect">
            <a:avLst/>
          </a:prstGeom>
          <a:noFill/>
          <a:ln/>
        </p:spPr>
        <p:txBody>
          <a:bodyPr wrap="square" lIns="0" tIns="0" rIns="0" bIns="0" rtlCol="0" anchor="ctr"/>
          <a:lstStyle/>
          <a:p>
            <a:pPr marL="0" indent="0">
              <a:buNone/>
            </a:pPr>
            <a:r>
              <a:rPr lang="en-US" sz="1050" dirty="0">
                <a:solidFill>
                  <a:srgbClr val="6E7A88"/>
                </a:solidFill>
                <a:latin typeface="Courier New" pitchFamily="34" charset="0"/>
                <a:ea typeface="Courier New" pitchFamily="34" charset="-122"/>
                <a:cs typeface="Courier New" pitchFamily="34" charset="-120"/>
              </a:rPr>
              <a:t>SELECT time_step, COUNT(*) FILTER (WHERE class_id=1)::NUMERIC / COUNT(*) ... GROUP BY time_step;</a:t>
            </a:r>
            <a:endParaRPr lang="en-US" sz="1050" dirty="0"/>
          </a:p>
        </p:txBody>
      </p:sp>
      <p:graphicFrame>
        <p:nvGraphicFramePr>
          <p:cNvPr id="6" name="Chart 0"/>
          <p:cNvGraphicFramePr/>
          <p:nvPr/>
        </p:nvGraphicFramePr>
        <p:xfrm>
          <a:off x="685800" y="1965960"/>
          <a:ext cx="107899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85800" y="4800600"/>
            <a:ext cx="2834640" cy="292608"/>
          </a:xfrm>
          <a:prstGeom prst="rect">
            <a:avLst/>
          </a:prstGeom>
          <a:noFill/>
          <a:ln/>
        </p:spPr>
        <p:txBody>
          <a:bodyPr wrap="square" lIns="0" tIns="0" rIns="0" bIns="0" rtlCol="0" anchor="ctr"/>
          <a:lstStyle/>
          <a:p>
            <a:pPr marL="0" indent="0">
              <a:buNone/>
            </a:pPr>
            <a:r>
              <a:rPr lang="en-US" sz="1100" b="1" kern="0" spc="140" dirty="0">
                <a:solidFill>
                  <a:srgbClr val="C8322B"/>
                </a:solidFill>
                <a:latin typeface="Calibri" pitchFamily="34" charset="0"/>
                <a:ea typeface="Calibri" pitchFamily="34" charset="-122"/>
                <a:cs typeface="Calibri" pitchFamily="34" charset="-120"/>
              </a:rPr>
              <a:t>Periods 43–46</a:t>
            </a:r>
            <a:endParaRPr lang="en-US" sz="1100" dirty="0"/>
          </a:p>
        </p:txBody>
      </p:sp>
      <p:sp>
        <p:nvSpPr>
          <p:cNvPr id="8" name="Text 5"/>
          <p:cNvSpPr/>
          <p:nvPr/>
        </p:nvSpPr>
        <p:spPr>
          <a:xfrm>
            <a:off x="685800" y="5120640"/>
            <a:ext cx="5120640" cy="914400"/>
          </a:xfrm>
          <a:prstGeom prst="rect">
            <a:avLst/>
          </a:prstGeom>
          <a:noFill/>
          <a:ln/>
        </p:spPr>
        <p:txBody>
          <a:bodyPr wrap="square" lIns="0" tIns="0" rIns="0" bIns="0" rtlCol="0" anchor="ctr"/>
          <a:lstStyle/>
          <a:p>
            <a:pPr marL="0" indent="0">
              <a:lnSpc>
                <a:spcPts val="1900"/>
              </a:lnSpc>
              <a:buNone/>
            </a:pPr>
            <a:r>
              <a:rPr lang="en-US" sz="1250" dirty="0">
                <a:solidFill>
                  <a:srgbClr val="E9ECEF"/>
                </a:solidFill>
                <a:latin typeface="Calibri" pitchFamily="34" charset="0"/>
                <a:ea typeface="Calibri" pitchFamily="34" charset="-122"/>
                <a:cs typeface="Calibri" pitchFamily="34" charset="-120"/>
              </a:rPr>
              <a:t>The illicit share of labelled transactions falls from 11.1% at period 42 to 0.28% at period 46 — a 40-fold drop across four consecutive periods, then a recovery to 11.8% by period 49.</a:t>
            </a:r>
            <a:endParaRPr lang="en-US" sz="1250" dirty="0"/>
          </a:p>
        </p:txBody>
      </p:sp>
      <p:sp>
        <p:nvSpPr>
          <p:cNvPr id="9" name="Text 6"/>
          <p:cNvSpPr/>
          <p:nvPr/>
        </p:nvSpPr>
        <p:spPr>
          <a:xfrm>
            <a:off x="6263640" y="4892040"/>
            <a:ext cx="5212080" cy="1143000"/>
          </a:xfrm>
          <a:prstGeom prst="rect">
            <a:avLst/>
          </a:prstGeom>
          <a:noFill/>
          <a:ln/>
        </p:spPr>
        <p:txBody>
          <a:bodyPr wrap="square" lIns="0" tIns="0" rIns="0" bIns="0" rtlCol="0" anchor="ctr"/>
          <a:lstStyle/>
          <a:p>
            <a:pPr marL="0" indent="0">
              <a:lnSpc>
                <a:spcPts val="1800"/>
              </a:lnSpc>
              <a:buNone/>
            </a:pPr>
            <a:r>
              <a:rPr lang="en-US" sz="1200" dirty="0">
                <a:solidFill>
                  <a:srgbClr val="6E7A88"/>
                </a:solidFill>
                <a:latin typeface="Calibri" pitchFamily="34" charset="0"/>
                <a:ea typeface="Calibri" pitchFamily="34" charset="-122"/>
                <a:cs typeface="Calibri" pitchFamily="34" charset="-120"/>
              </a:rPr>
              <a:t>This is a GROUP BY with an aggregate over one column. No model, no feature engineering, no statistical test — the structure of the loaded data is sufficient to surface a market-wide event that no individual transaction record contains. That is the case for building the database first.</a:t>
            </a:r>
            <a:endParaRPr lang="en-US" sz="1200" dirty="0"/>
          </a:p>
        </p:txBody>
      </p:sp>
      <p:sp>
        <p:nvSpPr>
          <p:cNvPr id="10" name="Text 7"/>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12</a:t>
            </a:r>
            <a:endParaRPr lang="en-US" sz="1000" dirty="0"/>
          </a:p>
        </p:txBody>
      </p:sp>
      <p:sp>
        <p:nvSpPr>
          <p:cNvPr id="11" name="Text 8"/>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INSIGHT FROM THE JOIN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Illicit transactions keep illicit company</a:t>
            </a:r>
            <a:endParaRPr lang="en-US" sz="3000" dirty="0"/>
          </a:p>
        </p:txBody>
      </p:sp>
      <p:graphicFrame>
        <p:nvGraphicFramePr>
          <p:cNvPr id="5" name="Chart 0"/>
          <p:cNvGraphicFramePr/>
          <p:nvPr/>
        </p:nvGraphicFramePr>
        <p:xfrm>
          <a:off x="685800" y="1737360"/>
          <a:ext cx="58521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85800" y="5120640"/>
            <a:ext cx="5852160" cy="457200"/>
          </a:xfrm>
          <a:prstGeom prst="rect">
            <a:avLst/>
          </a:prstGeom>
          <a:noFill/>
          <a:ln/>
        </p:spPr>
        <p:txBody>
          <a:bodyPr wrap="square" lIns="0" tIns="0" rIns="0" bIns="0" rtlCol="0" anchor="ctr"/>
          <a:lstStyle/>
          <a:p>
            <a:pPr marL="0" indent="0">
              <a:lnSpc>
                <a:spcPts val="1600"/>
              </a:lnSpc>
              <a:buNone/>
            </a:pPr>
            <a:r>
              <a:rPr lang="en-US" sz="1100" dirty="0">
                <a:solidFill>
                  <a:srgbClr val="6E7A88"/>
                </a:solidFill>
                <a:latin typeface="Calibri" pitchFamily="34" charset="0"/>
                <a:ea typeface="Calibri" pitchFamily="34" charset="-122"/>
                <a:cs typeface="Calibri" pitchFamily="34" charset="-120"/>
              </a:rPr>
              <a:t>Percentage of transactions with at least one known illicit counterparty, by their own class.</a:t>
            </a:r>
            <a:endParaRPr lang="en-US" sz="1100" dirty="0"/>
          </a:p>
        </p:txBody>
      </p:sp>
      <p:sp>
        <p:nvSpPr>
          <p:cNvPr id="7" name="Text 4"/>
          <p:cNvSpPr/>
          <p:nvPr/>
        </p:nvSpPr>
        <p:spPr>
          <a:xfrm>
            <a:off x="6995160" y="1783080"/>
            <a:ext cx="4480560" cy="384048"/>
          </a:xfrm>
          <a:prstGeom prst="rect">
            <a:avLst/>
          </a:prstGeom>
          <a:noFill/>
          <a:ln/>
        </p:spPr>
        <p:txBody>
          <a:bodyPr wrap="square" lIns="0" tIns="0" rIns="0" bIns="0" rtlCol="0" anchor="ctr"/>
          <a:lstStyle/>
          <a:p>
            <a:pPr marL="0" indent="0">
              <a:buNone/>
            </a:pPr>
            <a:r>
              <a:rPr lang="en-US" sz="2000" b="1" dirty="0">
                <a:solidFill>
                  <a:srgbClr val="15181D"/>
                </a:solidFill>
                <a:latin typeface="Calibri" pitchFamily="34" charset="0"/>
                <a:ea typeface="Calibri" pitchFamily="34" charset="-122"/>
                <a:cs typeface="Calibri" pitchFamily="34" charset="-120"/>
              </a:rPr>
              <a:t>A 12× separation</a:t>
            </a:r>
            <a:endParaRPr lang="en-US" sz="2000" dirty="0"/>
          </a:p>
        </p:txBody>
      </p:sp>
      <p:sp>
        <p:nvSpPr>
          <p:cNvPr id="8" name="Text 5"/>
          <p:cNvSpPr/>
          <p:nvPr/>
        </p:nvSpPr>
        <p:spPr>
          <a:xfrm>
            <a:off x="6995160" y="2286000"/>
            <a:ext cx="4480560" cy="3108960"/>
          </a:xfrm>
          <a:prstGeom prst="rect">
            <a:avLst/>
          </a:prstGeom>
          <a:noFill/>
          <a:ln/>
        </p:spPr>
        <p:txBody>
          <a:bodyPr wrap="square" lIns="0" tIns="0" rIns="0" bIns="0" rtlCol="0" anchor="ctr"/>
          <a:lstStyle/>
          <a:p>
            <a:pPr marL="0" indent="0">
              <a:lnSpc>
                <a:spcPts val="1900"/>
              </a:lnSpc>
              <a:buNone/>
            </a:pPr>
            <a:r>
              <a:rPr lang="en-US" sz="1250" dirty="0">
                <a:solidFill>
                  <a:srgbClr val="48586B"/>
                </a:solidFill>
                <a:latin typeface="Calibri" pitchFamily="34" charset="0"/>
                <a:ea typeface="Calibri" pitchFamily="34" charset="-122"/>
                <a:cs typeface="Calibri" pitchFamily="34" charset="-120"/>
              </a:rPr>
              <a:t>An illicit transaction is twelve times more likely than a licit one to sit next to another known illicit transaction. Money laundering is a structural phenomenon, and the structure is visible in a join.</a:t>
            </a:r>
            <a:endParaRPr lang="en-US" sz="1250" dirty="0"/>
          </a:p>
          <a:p>
            <a:pPr marL="0" indent="0">
              <a:lnSpc>
                <a:spcPts val="1900"/>
              </a:lnSpc>
              <a:buNone/>
            </a:pPr>
            <a:endParaRPr lang="en-US" sz="1250" dirty="0"/>
          </a:p>
          <a:p>
            <a:pPr marL="0" indent="0">
              <a:lnSpc>
                <a:spcPts val="1900"/>
              </a:lnSpc>
              <a:buNone/>
            </a:pPr>
            <a:r>
              <a:rPr lang="en-US" sz="1250" dirty="0">
                <a:solidFill>
                  <a:srgbClr val="48586B"/>
                </a:solidFill>
                <a:latin typeface="Calibri" pitchFamily="34" charset="0"/>
                <a:ea typeface="Calibri" pitchFamily="34" charset="-122"/>
                <a:cs typeface="Calibri" pitchFamily="34" charset="-120"/>
              </a:rPr>
              <a:t>The unlabelled population sits at the licit rate, not between the two — which is the empirical reason for refusing to treat "unknown" as a weak positive.</a:t>
            </a:r>
            <a:endParaRPr lang="en-US" sz="1250" dirty="0"/>
          </a:p>
          <a:p>
            <a:pPr marL="0" indent="0">
              <a:lnSpc>
                <a:spcPts val="1900"/>
              </a:lnSpc>
              <a:buNone/>
            </a:pPr>
            <a:endParaRPr lang="en-US" sz="1250" dirty="0"/>
          </a:p>
          <a:p>
            <a:pPr marL="0" indent="0">
              <a:lnSpc>
                <a:spcPts val="1900"/>
              </a:lnSpc>
              <a:buNone/>
            </a:pPr>
            <a:r>
              <a:rPr lang="en-US" sz="1250" dirty="0">
                <a:solidFill>
                  <a:srgbClr val="48586B"/>
                </a:solidFill>
                <a:latin typeface="Calibri" pitchFamily="34" charset="0"/>
                <a:ea typeface="Calibri" pitchFamily="34" charset="-122"/>
                <a:cs typeface="Calibri" pitchFamily="34" charset="-120"/>
              </a:rPr>
              <a:t>4,027 unlabelled transactions have at least one illicit counterparty. That set is vw_alert_queue: a triage list that exists because the edge table exists.</a:t>
            </a:r>
            <a:endParaRPr lang="en-US" sz="1250" dirty="0"/>
          </a:p>
        </p:txBody>
      </p:sp>
      <p:sp>
        <p:nvSpPr>
          <p:cNvPr id="9" name="Text 6"/>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13</a:t>
            </a:r>
            <a:endParaRPr lang="en-US" sz="1000" dirty="0"/>
          </a:p>
        </p:txBody>
      </p:sp>
      <p:sp>
        <p:nvSpPr>
          <p:cNvPr id="10" name="Text 7"/>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PREPARING FOR ANALYSIS</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Which of the 165 features are worth giving a model</a:t>
            </a:r>
            <a:endParaRPr lang="en-US" sz="3000" dirty="0"/>
          </a:p>
        </p:txBody>
      </p:sp>
      <p:sp>
        <p:nvSpPr>
          <p:cNvPr id="5" name="Text 3"/>
          <p:cNvSpPr/>
          <p:nvPr/>
        </p:nvSpPr>
        <p:spPr>
          <a:xfrm>
            <a:off x="685800" y="1572768"/>
            <a:ext cx="10789920" cy="658368"/>
          </a:xfrm>
          <a:prstGeom prst="rect">
            <a:avLst/>
          </a:prstGeom>
          <a:noFill/>
          <a:ln/>
        </p:spPr>
        <p:txBody>
          <a:bodyPr wrap="square" lIns="0" tIns="0" rIns="0" bIns="0" rtlCol="0" anchor="ctr"/>
          <a:lstStyle/>
          <a:p>
            <a:pPr marL="0" indent="0">
              <a:lnSpc>
                <a:spcPts val="1900"/>
              </a:lnSpc>
              <a:buNone/>
            </a:pPr>
            <a:r>
              <a:rPr lang="en-US" sz="1250" dirty="0">
                <a:solidFill>
                  <a:srgbClr val="48586B"/>
                </a:solidFill>
                <a:latin typeface="Calibri" pitchFamily="34" charset="0"/>
                <a:ea typeface="Calibri" pitchFamily="34" charset="-122"/>
                <a:cs typeface="Calibri" pitchFamily="34" charset="-120"/>
              </a:rPr>
              <a:t>The features are obfuscated, so they cannot be selected on meaning. They can be selected on evidence: for each column, the difference in class means expressed in pooled standard deviations (Cohen's d), computed with GROUP BY, AVG and STDDEV over the labelled subset.</a:t>
            </a:r>
            <a:endParaRPr lang="en-US" sz="1250" dirty="0"/>
          </a:p>
        </p:txBody>
      </p:sp>
      <p:graphicFrame>
        <p:nvGraphicFramePr>
          <p:cNvPr id="6" name="Chart 0"/>
          <p:cNvGraphicFramePr/>
          <p:nvPr/>
        </p:nvGraphicFramePr>
        <p:xfrm>
          <a:off x="685800" y="2377440"/>
          <a:ext cx="55778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85800" y="5212080"/>
            <a:ext cx="5577840" cy="320040"/>
          </a:xfrm>
          <a:prstGeom prst="rect">
            <a:avLst/>
          </a:prstGeom>
          <a:noFill/>
          <a:ln/>
        </p:spPr>
        <p:txBody>
          <a:bodyPr wrap="square" lIns="0" tIns="0" rIns="0" bIns="0" rtlCol="0" anchor="ctr"/>
          <a:lstStyle/>
          <a:p>
            <a:pPr marL="0" indent="0">
              <a:buNone/>
            </a:pPr>
            <a:r>
              <a:rPr lang="en-US" sz="1100" dirty="0">
                <a:solidFill>
                  <a:srgbClr val="6E7A88"/>
                </a:solidFill>
                <a:latin typeface="Calibri" pitchFamily="34" charset="0"/>
                <a:ea typeface="Calibri" pitchFamily="34" charset="-122"/>
                <a:cs typeface="Calibri" pitchFamily="34" charset="-120"/>
              </a:rPr>
              <a:t>Distribution of effect size across all 165 features.</a:t>
            </a:r>
            <a:endParaRPr lang="en-US" sz="1100" dirty="0"/>
          </a:p>
        </p:txBody>
      </p:sp>
      <p:sp>
        <p:nvSpPr>
          <p:cNvPr id="8" name="Shape 5"/>
          <p:cNvSpPr/>
          <p:nvPr/>
        </p:nvSpPr>
        <p:spPr>
          <a:xfrm>
            <a:off x="6720840" y="2377440"/>
            <a:ext cx="4754880" cy="292608"/>
          </a:xfrm>
          <a:prstGeom prst="rect">
            <a:avLst/>
          </a:prstGeom>
          <a:solidFill>
            <a:srgbClr val="F1F3F5"/>
          </a:solidFill>
          <a:ln w="12700">
            <a:solidFill>
              <a:srgbClr val="F1F3F5"/>
            </a:solidFill>
            <a:prstDash val="solid"/>
          </a:ln>
        </p:spPr>
        <p:txBody>
          <a:bodyPr/>
          <a:lstStyle/>
          <a:p>
            <a:endParaRPr lang="en-US"/>
          </a:p>
        </p:txBody>
      </p:sp>
      <p:sp>
        <p:nvSpPr>
          <p:cNvPr id="9" name="Text 6"/>
          <p:cNvSpPr/>
          <p:nvPr/>
        </p:nvSpPr>
        <p:spPr>
          <a:xfrm>
            <a:off x="6867144" y="2377440"/>
            <a:ext cx="2377440" cy="292608"/>
          </a:xfrm>
          <a:prstGeom prst="rect">
            <a:avLst/>
          </a:prstGeom>
          <a:noFill/>
          <a:ln/>
        </p:spPr>
        <p:txBody>
          <a:bodyPr wrap="square" lIns="0" tIns="0" rIns="0" bIns="0" rtlCol="0" anchor="ctr"/>
          <a:lstStyle/>
          <a:p>
            <a:pPr marL="0" indent="0" algn="l">
              <a:buNone/>
            </a:pPr>
            <a:r>
              <a:rPr lang="en-US" sz="1100" b="1" dirty="0">
                <a:solidFill>
                  <a:srgbClr val="15181D"/>
                </a:solidFill>
                <a:latin typeface="Calibri" pitchFamily="34" charset="0"/>
                <a:ea typeface="Calibri" pitchFamily="34" charset="-122"/>
                <a:cs typeface="Calibri" pitchFamily="34" charset="-120"/>
              </a:rPr>
              <a:t>Feature</a:t>
            </a:r>
            <a:endParaRPr lang="en-US" sz="1100" dirty="0"/>
          </a:p>
        </p:txBody>
      </p:sp>
      <p:sp>
        <p:nvSpPr>
          <p:cNvPr id="10" name="Text 7"/>
          <p:cNvSpPr/>
          <p:nvPr/>
        </p:nvSpPr>
        <p:spPr>
          <a:xfrm>
            <a:off x="9244584" y="2377440"/>
            <a:ext cx="118872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d</a:t>
            </a:r>
            <a:endParaRPr lang="en-US" sz="1100" dirty="0"/>
          </a:p>
        </p:txBody>
      </p:sp>
      <p:sp>
        <p:nvSpPr>
          <p:cNvPr id="11" name="Text 8"/>
          <p:cNvSpPr/>
          <p:nvPr/>
        </p:nvSpPr>
        <p:spPr>
          <a:xfrm>
            <a:off x="10433304" y="2377440"/>
            <a:ext cx="91440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Effect</a:t>
            </a:r>
            <a:endParaRPr lang="en-US" sz="1100" dirty="0"/>
          </a:p>
        </p:txBody>
      </p:sp>
      <p:sp>
        <p:nvSpPr>
          <p:cNvPr id="12" name="Shape 9"/>
          <p:cNvSpPr/>
          <p:nvPr/>
        </p:nvSpPr>
        <p:spPr>
          <a:xfrm>
            <a:off x="6720840" y="2962656"/>
            <a:ext cx="4754880" cy="0"/>
          </a:xfrm>
          <a:prstGeom prst="line">
            <a:avLst/>
          </a:prstGeom>
          <a:noFill/>
          <a:ln w="9525">
            <a:solidFill>
              <a:srgbClr val="DDE1E6"/>
            </a:solidFill>
            <a:prstDash val="solid"/>
          </a:ln>
        </p:spPr>
        <p:txBody>
          <a:bodyPr/>
          <a:lstStyle/>
          <a:p>
            <a:endParaRPr lang="en-US"/>
          </a:p>
        </p:txBody>
      </p:sp>
      <p:sp>
        <p:nvSpPr>
          <p:cNvPr id="13" name="Text 10"/>
          <p:cNvSpPr/>
          <p:nvPr/>
        </p:nvSpPr>
        <p:spPr>
          <a:xfrm>
            <a:off x="6867144" y="2670048"/>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local_feature_53</a:t>
            </a:r>
            <a:endParaRPr lang="en-US" sz="1100" dirty="0"/>
          </a:p>
        </p:txBody>
      </p:sp>
      <p:sp>
        <p:nvSpPr>
          <p:cNvPr id="14" name="Text 11"/>
          <p:cNvSpPr/>
          <p:nvPr/>
        </p:nvSpPr>
        <p:spPr>
          <a:xfrm>
            <a:off x="9244584" y="2670048"/>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-0.913</a:t>
            </a:r>
            <a:endParaRPr lang="en-US" sz="1100" dirty="0"/>
          </a:p>
        </p:txBody>
      </p:sp>
      <p:sp>
        <p:nvSpPr>
          <p:cNvPr id="15" name="Text 12"/>
          <p:cNvSpPr/>
          <p:nvPr/>
        </p:nvSpPr>
        <p:spPr>
          <a:xfrm>
            <a:off x="10433304" y="2670048"/>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large</a:t>
            </a:r>
            <a:endParaRPr lang="en-US" sz="1100" dirty="0"/>
          </a:p>
        </p:txBody>
      </p:sp>
      <p:sp>
        <p:nvSpPr>
          <p:cNvPr id="16" name="Shape 13"/>
          <p:cNvSpPr/>
          <p:nvPr/>
        </p:nvSpPr>
        <p:spPr>
          <a:xfrm>
            <a:off x="6720840" y="3255264"/>
            <a:ext cx="4754880" cy="0"/>
          </a:xfrm>
          <a:prstGeom prst="line">
            <a:avLst/>
          </a:prstGeom>
          <a:noFill/>
          <a:ln w="9525">
            <a:solidFill>
              <a:srgbClr val="DDE1E6"/>
            </a:solidFill>
            <a:prstDash val="solid"/>
          </a:ln>
        </p:spPr>
        <p:txBody>
          <a:bodyPr/>
          <a:lstStyle/>
          <a:p>
            <a:endParaRPr lang="en-US"/>
          </a:p>
        </p:txBody>
      </p:sp>
      <p:sp>
        <p:nvSpPr>
          <p:cNvPr id="17" name="Text 14"/>
          <p:cNvSpPr/>
          <p:nvPr/>
        </p:nvSpPr>
        <p:spPr>
          <a:xfrm>
            <a:off x="6867144" y="2962656"/>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local_feature_89</a:t>
            </a:r>
            <a:endParaRPr lang="en-US" sz="1100" dirty="0"/>
          </a:p>
        </p:txBody>
      </p:sp>
      <p:sp>
        <p:nvSpPr>
          <p:cNvPr id="18" name="Text 15"/>
          <p:cNvSpPr/>
          <p:nvPr/>
        </p:nvSpPr>
        <p:spPr>
          <a:xfrm>
            <a:off x="9244584" y="2962656"/>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-0.788</a:t>
            </a:r>
            <a:endParaRPr lang="en-US" sz="1100" dirty="0"/>
          </a:p>
        </p:txBody>
      </p:sp>
      <p:sp>
        <p:nvSpPr>
          <p:cNvPr id="19" name="Text 16"/>
          <p:cNvSpPr/>
          <p:nvPr/>
        </p:nvSpPr>
        <p:spPr>
          <a:xfrm>
            <a:off x="10433304" y="2962656"/>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medium</a:t>
            </a:r>
            <a:endParaRPr lang="en-US" sz="1100" dirty="0"/>
          </a:p>
        </p:txBody>
      </p:sp>
      <p:sp>
        <p:nvSpPr>
          <p:cNvPr id="20" name="Shape 17"/>
          <p:cNvSpPr/>
          <p:nvPr/>
        </p:nvSpPr>
        <p:spPr>
          <a:xfrm>
            <a:off x="6720840" y="3547872"/>
            <a:ext cx="4754880" cy="0"/>
          </a:xfrm>
          <a:prstGeom prst="line">
            <a:avLst/>
          </a:prstGeom>
          <a:noFill/>
          <a:ln w="9525">
            <a:solidFill>
              <a:srgbClr val="DDE1E6"/>
            </a:solidFill>
            <a:prstDash val="solid"/>
          </a:ln>
        </p:spPr>
        <p:txBody>
          <a:bodyPr/>
          <a:lstStyle/>
          <a:p>
            <a:endParaRPr lang="en-US"/>
          </a:p>
        </p:txBody>
      </p:sp>
      <p:sp>
        <p:nvSpPr>
          <p:cNvPr id="21" name="Text 18"/>
          <p:cNvSpPr/>
          <p:nvPr/>
        </p:nvSpPr>
        <p:spPr>
          <a:xfrm>
            <a:off x="6867144" y="3255264"/>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local_feature_55</a:t>
            </a:r>
            <a:endParaRPr lang="en-US" sz="1100" dirty="0"/>
          </a:p>
        </p:txBody>
      </p:sp>
      <p:sp>
        <p:nvSpPr>
          <p:cNvPr id="22" name="Text 19"/>
          <p:cNvSpPr/>
          <p:nvPr/>
        </p:nvSpPr>
        <p:spPr>
          <a:xfrm>
            <a:off x="9244584" y="3255264"/>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-0.786</a:t>
            </a:r>
            <a:endParaRPr lang="en-US" sz="1100" dirty="0"/>
          </a:p>
        </p:txBody>
      </p:sp>
      <p:sp>
        <p:nvSpPr>
          <p:cNvPr id="23" name="Text 20"/>
          <p:cNvSpPr/>
          <p:nvPr/>
        </p:nvSpPr>
        <p:spPr>
          <a:xfrm>
            <a:off x="10433304" y="3255264"/>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medium</a:t>
            </a:r>
            <a:endParaRPr lang="en-US" sz="1100" dirty="0"/>
          </a:p>
        </p:txBody>
      </p:sp>
      <p:sp>
        <p:nvSpPr>
          <p:cNvPr id="24" name="Shape 21"/>
          <p:cNvSpPr/>
          <p:nvPr/>
        </p:nvSpPr>
        <p:spPr>
          <a:xfrm>
            <a:off x="6720840" y="3840480"/>
            <a:ext cx="4754880" cy="0"/>
          </a:xfrm>
          <a:prstGeom prst="line">
            <a:avLst/>
          </a:prstGeom>
          <a:noFill/>
          <a:ln w="9525">
            <a:solidFill>
              <a:srgbClr val="DDE1E6"/>
            </a:solidFill>
            <a:prstDash val="solid"/>
          </a:ln>
        </p:spPr>
        <p:txBody>
          <a:bodyPr/>
          <a:lstStyle/>
          <a:p>
            <a:endParaRPr lang="en-US"/>
          </a:p>
        </p:txBody>
      </p:sp>
      <p:sp>
        <p:nvSpPr>
          <p:cNvPr id="25" name="Text 22"/>
          <p:cNvSpPr/>
          <p:nvPr/>
        </p:nvSpPr>
        <p:spPr>
          <a:xfrm>
            <a:off x="6867144" y="3547872"/>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local_feature_90</a:t>
            </a:r>
            <a:endParaRPr lang="en-US" sz="1100" dirty="0"/>
          </a:p>
        </p:txBody>
      </p:sp>
      <p:sp>
        <p:nvSpPr>
          <p:cNvPr id="26" name="Text 23"/>
          <p:cNvSpPr/>
          <p:nvPr/>
        </p:nvSpPr>
        <p:spPr>
          <a:xfrm>
            <a:off x="9244584" y="3547872"/>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-0.765</a:t>
            </a:r>
            <a:endParaRPr lang="en-US" sz="1100" dirty="0"/>
          </a:p>
        </p:txBody>
      </p:sp>
      <p:sp>
        <p:nvSpPr>
          <p:cNvPr id="27" name="Text 24"/>
          <p:cNvSpPr/>
          <p:nvPr/>
        </p:nvSpPr>
        <p:spPr>
          <a:xfrm>
            <a:off x="10433304" y="3547872"/>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medium</a:t>
            </a:r>
            <a:endParaRPr lang="en-US" sz="1100" dirty="0"/>
          </a:p>
        </p:txBody>
      </p:sp>
      <p:sp>
        <p:nvSpPr>
          <p:cNvPr id="28" name="Shape 25"/>
          <p:cNvSpPr/>
          <p:nvPr/>
        </p:nvSpPr>
        <p:spPr>
          <a:xfrm>
            <a:off x="6720840" y="4133088"/>
            <a:ext cx="4754880" cy="0"/>
          </a:xfrm>
          <a:prstGeom prst="line">
            <a:avLst/>
          </a:prstGeom>
          <a:noFill/>
          <a:ln w="9525">
            <a:solidFill>
              <a:srgbClr val="DDE1E6"/>
            </a:solidFill>
            <a:prstDash val="solid"/>
          </a:ln>
        </p:spPr>
        <p:txBody>
          <a:bodyPr/>
          <a:lstStyle/>
          <a:p>
            <a:endParaRPr lang="en-US"/>
          </a:p>
        </p:txBody>
      </p:sp>
      <p:sp>
        <p:nvSpPr>
          <p:cNvPr id="29" name="Text 26"/>
          <p:cNvSpPr/>
          <p:nvPr/>
        </p:nvSpPr>
        <p:spPr>
          <a:xfrm>
            <a:off x="6867144" y="3840480"/>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aggregate_feature_49</a:t>
            </a:r>
            <a:endParaRPr lang="en-US" sz="1100" dirty="0"/>
          </a:p>
        </p:txBody>
      </p:sp>
      <p:sp>
        <p:nvSpPr>
          <p:cNvPr id="30" name="Text 27"/>
          <p:cNvSpPr/>
          <p:nvPr/>
        </p:nvSpPr>
        <p:spPr>
          <a:xfrm>
            <a:off x="9244584" y="3840480"/>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0.659</a:t>
            </a:r>
            <a:endParaRPr lang="en-US" sz="1100" dirty="0"/>
          </a:p>
        </p:txBody>
      </p:sp>
      <p:sp>
        <p:nvSpPr>
          <p:cNvPr id="31" name="Text 28"/>
          <p:cNvSpPr/>
          <p:nvPr/>
        </p:nvSpPr>
        <p:spPr>
          <a:xfrm>
            <a:off x="10433304" y="3840480"/>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medium</a:t>
            </a:r>
            <a:endParaRPr lang="en-US" sz="1100" dirty="0"/>
          </a:p>
        </p:txBody>
      </p:sp>
      <p:sp>
        <p:nvSpPr>
          <p:cNvPr id="32" name="Shape 29"/>
          <p:cNvSpPr/>
          <p:nvPr/>
        </p:nvSpPr>
        <p:spPr>
          <a:xfrm>
            <a:off x="6720840" y="4425696"/>
            <a:ext cx="4754880" cy="0"/>
          </a:xfrm>
          <a:prstGeom prst="line">
            <a:avLst/>
          </a:prstGeom>
          <a:noFill/>
          <a:ln w="9525">
            <a:solidFill>
              <a:srgbClr val="DDE1E6"/>
            </a:solidFill>
            <a:prstDash val="solid"/>
          </a:ln>
        </p:spPr>
        <p:txBody>
          <a:bodyPr/>
          <a:lstStyle/>
          <a:p>
            <a:endParaRPr lang="en-US"/>
          </a:p>
        </p:txBody>
      </p:sp>
      <p:sp>
        <p:nvSpPr>
          <p:cNvPr id="33" name="Text 30"/>
          <p:cNvSpPr/>
          <p:nvPr/>
        </p:nvSpPr>
        <p:spPr>
          <a:xfrm>
            <a:off x="6867144" y="4133088"/>
            <a:ext cx="237744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aggregate_feature_57</a:t>
            </a:r>
            <a:endParaRPr lang="en-US" sz="1100" dirty="0"/>
          </a:p>
        </p:txBody>
      </p:sp>
      <p:sp>
        <p:nvSpPr>
          <p:cNvPr id="34" name="Text 31"/>
          <p:cNvSpPr/>
          <p:nvPr/>
        </p:nvSpPr>
        <p:spPr>
          <a:xfrm>
            <a:off x="9244584" y="4133088"/>
            <a:ext cx="118872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-0.642</a:t>
            </a:r>
            <a:endParaRPr lang="en-US" sz="1100" dirty="0"/>
          </a:p>
        </p:txBody>
      </p:sp>
      <p:sp>
        <p:nvSpPr>
          <p:cNvPr id="35" name="Text 32"/>
          <p:cNvSpPr/>
          <p:nvPr/>
        </p:nvSpPr>
        <p:spPr>
          <a:xfrm>
            <a:off x="10433304" y="4133088"/>
            <a:ext cx="9144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medium</a:t>
            </a:r>
            <a:endParaRPr lang="en-US" sz="1100" dirty="0"/>
          </a:p>
        </p:txBody>
      </p:sp>
      <p:sp>
        <p:nvSpPr>
          <p:cNvPr id="36" name="Text 33"/>
          <p:cNvSpPr/>
          <p:nvPr/>
        </p:nvSpPr>
        <p:spPr>
          <a:xfrm>
            <a:off x="6720840" y="4572000"/>
            <a:ext cx="4754880" cy="96012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Signal is concentrated in about 5% of the columns. 102 of 165 separate the classes negligibly — they are retained in core, but a model given all 165 is mostly given noise.</a:t>
            </a:r>
            <a:endParaRPr lang="en-US" sz="1200" dirty="0"/>
          </a:p>
        </p:txBody>
      </p:sp>
      <p:sp>
        <p:nvSpPr>
          <p:cNvPr id="37" name="Text 34"/>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14</a:t>
            </a:r>
            <a:endParaRPr lang="en-US" sz="1000" dirty="0"/>
          </a:p>
        </p:txBody>
      </p:sp>
      <p:sp>
        <p:nvSpPr>
          <p:cNvPr id="38" name="Text 35"/>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PREPARING FOR ANALYSIS</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The best predictor is one the database built</a:t>
            </a:r>
            <a:endParaRPr lang="en-US" sz="3000" dirty="0"/>
          </a:p>
        </p:txBody>
      </p:sp>
      <p:graphicFrame>
        <p:nvGraphicFramePr>
          <p:cNvPr id="5" name="Chart 0"/>
          <p:cNvGraphicFramePr/>
          <p:nvPr/>
        </p:nvGraphicFramePr>
        <p:xfrm>
          <a:off x="685800" y="1691640"/>
          <a:ext cx="64008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85800" y="4846320"/>
            <a:ext cx="6400800" cy="548640"/>
          </a:xfrm>
          <a:prstGeom prst="rect">
            <a:avLst/>
          </a:prstGeom>
          <a:noFill/>
          <a:ln/>
        </p:spPr>
        <p:txBody>
          <a:bodyPr wrap="square" lIns="0" tIns="0" rIns="0" bIns="0" rtlCol="0" anchor="ctr"/>
          <a:lstStyle/>
          <a:p>
            <a:pPr marL="0" indent="0">
              <a:lnSpc>
                <a:spcPts val="1600"/>
              </a:lnSpc>
              <a:buNone/>
            </a:pPr>
            <a:r>
              <a:rPr lang="en-US" sz="1100" dirty="0">
                <a:solidFill>
                  <a:srgbClr val="6E7A88"/>
                </a:solidFill>
                <a:latin typeface="Calibri" pitchFamily="34" charset="0"/>
                <a:ea typeface="Calibri" pitchFamily="34" charset="-122"/>
                <a:cs typeface="Calibri" pitchFamily="34" charset="-120"/>
              </a:rPr>
              <a:t>Absolute point-biserial correlation with the illicit outcome, on the 46,564 labelled transactions. Red bars are predictors derived from the edge table; grey bars shipped with the dataset.</a:t>
            </a:r>
            <a:endParaRPr lang="en-US" sz="1100" dirty="0"/>
          </a:p>
        </p:txBody>
      </p:sp>
      <p:sp>
        <p:nvSpPr>
          <p:cNvPr id="7" name="Shape 4"/>
          <p:cNvSpPr/>
          <p:nvPr/>
        </p:nvSpPr>
        <p:spPr>
          <a:xfrm>
            <a:off x="7543800" y="1691640"/>
            <a:ext cx="3931920" cy="3977640"/>
          </a:xfrm>
          <a:prstGeom prst="roundRect">
            <a:avLst>
              <a:gd name="adj" fmla="val 698"/>
            </a:avLst>
          </a:prstGeom>
          <a:solidFill>
            <a:srgbClr val="F1F3F5"/>
          </a:solidFill>
          <a:ln w="12700">
            <a:solidFill>
              <a:srgbClr val="F1F3F5"/>
            </a:solidFill>
            <a:prstDash val="solid"/>
          </a:ln>
        </p:spPr>
        <p:txBody>
          <a:bodyPr/>
          <a:lstStyle/>
          <a:p>
            <a:endParaRPr lang="en-US"/>
          </a:p>
        </p:txBody>
      </p:sp>
      <p:sp>
        <p:nvSpPr>
          <p:cNvPr id="8" name="Text 5"/>
          <p:cNvSpPr/>
          <p:nvPr/>
        </p:nvSpPr>
        <p:spPr>
          <a:xfrm>
            <a:off x="7818120" y="1874520"/>
            <a:ext cx="3383280" cy="548640"/>
          </a:xfrm>
          <a:prstGeom prst="rect">
            <a:avLst/>
          </a:prstGeom>
          <a:noFill/>
          <a:ln/>
        </p:spPr>
        <p:txBody>
          <a:bodyPr wrap="square" lIns="0" tIns="0" rIns="0" bIns="0" rtlCol="0" anchor="ctr"/>
          <a:lstStyle/>
          <a:p>
            <a:pPr marL="0" indent="0">
              <a:lnSpc>
                <a:spcPts val="2100"/>
              </a:lnSpc>
              <a:buNone/>
            </a:pPr>
            <a:r>
              <a:rPr lang="en-US" sz="1500" b="1" dirty="0">
                <a:solidFill>
                  <a:srgbClr val="15181D"/>
                </a:solidFill>
                <a:latin typeface="Calibri" pitchFamily="34" charset="0"/>
                <a:ea typeface="Calibri" pitchFamily="34" charset="-122"/>
                <a:cs typeface="Calibri" pitchFamily="34" charset="-120"/>
              </a:rPr>
              <a:t>Why this answers the question</a:t>
            </a:r>
            <a:endParaRPr lang="en-US" sz="1500" dirty="0"/>
          </a:p>
        </p:txBody>
      </p:sp>
      <p:sp>
        <p:nvSpPr>
          <p:cNvPr id="9" name="Text 6"/>
          <p:cNvSpPr/>
          <p:nvPr/>
        </p:nvSpPr>
        <p:spPr>
          <a:xfrm>
            <a:off x="7818120" y="2423160"/>
            <a:ext cx="3383280" cy="310896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illicit_neighbour_ratio did not come with the data. It exists because transactions and edges were modelled as separate relations that can be joined.</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It is the strongest single predictor available — and the only strong one that can be explained to a compliance officer. "This transaction is adjacent to known illicit activity" is a defensible reason to review something. "local_feature_53 is low" is not.</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Structuring the data did not merely make analysis faster. It produced the interpretable signal that the raw data could not supply.</a:t>
            </a:r>
            <a:endParaRPr lang="en-US" sz="1150" dirty="0"/>
          </a:p>
        </p:txBody>
      </p:sp>
      <p:sp>
        <p:nvSpPr>
          <p:cNvPr id="10" name="Text 7"/>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15</a:t>
            </a:r>
            <a:endParaRPr lang="en-US" sz="1000" dirty="0"/>
          </a:p>
        </p:txBody>
      </p:sp>
      <p:sp>
        <p:nvSpPr>
          <p:cNvPr id="11" name="Text 8"/>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PREPARING FOR ANALYSIS</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The extract a regression would be fitted on</a:t>
            </a:r>
            <a:endParaRPr lang="en-US" sz="3000" dirty="0"/>
          </a:p>
        </p:txBody>
      </p:sp>
      <p:sp>
        <p:nvSpPr>
          <p:cNvPr id="5" name="Shape 3"/>
          <p:cNvSpPr/>
          <p:nvPr/>
        </p:nvSpPr>
        <p:spPr>
          <a:xfrm>
            <a:off x="685800" y="1645920"/>
            <a:ext cx="5943600" cy="2514600"/>
          </a:xfrm>
          <a:prstGeom prst="roundRect">
            <a:avLst>
              <a:gd name="adj" fmla="val 1091"/>
            </a:avLst>
          </a:prstGeom>
          <a:solidFill>
            <a:srgbClr val="15181D"/>
          </a:solidFill>
          <a:ln w="12700">
            <a:solidFill>
              <a:srgbClr val="15181D"/>
            </a:solidFill>
            <a:prstDash val="solid"/>
          </a:ln>
        </p:spPr>
        <p:txBody>
          <a:bodyPr/>
          <a:lstStyle/>
          <a:p>
            <a:endParaRPr lang="en-US"/>
          </a:p>
        </p:txBody>
      </p:sp>
      <p:sp>
        <p:nvSpPr>
          <p:cNvPr id="6" name="Text 4"/>
          <p:cNvSpPr/>
          <p:nvPr/>
        </p:nvSpPr>
        <p:spPr>
          <a:xfrm>
            <a:off x="886968" y="1810512"/>
            <a:ext cx="5541264" cy="2185416"/>
          </a:xfrm>
          <a:prstGeom prst="rect">
            <a:avLst/>
          </a:prstGeom>
          <a:noFill/>
          <a:ln/>
        </p:spPr>
        <p:txBody>
          <a:bodyPr wrap="square" lIns="0" tIns="0" rIns="0" bIns="0" rtlCol="0" anchor="t"/>
          <a:lstStyle/>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CREATE VIEW analytics.vw_analysis_matrix AS</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SELECT t.tx_id, t.time_step,</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CASE WHEN t.time_step &lt;= 34 THEN 'train'</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ELSE 'test' END   AS split,</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(t.class_id = 1)::INT  AS is_illicit,</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d.in_degree, d.out_degree,</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e.illicit_neighbours,</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       e.illicit_neighbour_ratio</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FROM   core.transaction t</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JOIN   analytics.mv_tx_degree        d USING (tx_id)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JOIN   analytics.mv_illicit_exposure e USING (tx_id)</a:t>
            </a:r>
            <a:endParaRPr lang="en-US" sz="1050" dirty="0"/>
          </a:p>
          <a:p>
            <a:pPr marL="0" indent="0">
              <a:lnSpc>
                <a:spcPts val="1500"/>
              </a:lnSpc>
              <a:buNone/>
            </a:pPr>
            <a:r>
              <a:rPr lang="en-US" sz="1050" dirty="0">
                <a:solidFill>
                  <a:srgbClr val="E9ECEF"/>
                </a:solidFill>
                <a:latin typeface="Courier New" pitchFamily="34" charset="0"/>
                <a:ea typeface="Courier New" pitchFamily="34" charset="-122"/>
                <a:cs typeface="Courier New" pitchFamily="34" charset="-120"/>
              </a:rPr>
              <a:t>WHERE  t.class_id IN (1, 2);</a:t>
            </a:r>
            <a:endParaRPr lang="en-US" sz="1050" dirty="0"/>
          </a:p>
        </p:txBody>
      </p:sp>
      <p:sp>
        <p:nvSpPr>
          <p:cNvPr id="7" name="Shape 5"/>
          <p:cNvSpPr/>
          <p:nvPr/>
        </p:nvSpPr>
        <p:spPr>
          <a:xfrm>
            <a:off x="7086600" y="1645920"/>
            <a:ext cx="4389120" cy="292608"/>
          </a:xfrm>
          <a:prstGeom prst="rect">
            <a:avLst/>
          </a:prstGeom>
          <a:solidFill>
            <a:srgbClr val="F1F3F5"/>
          </a:solidFill>
          <a:ln w="12700">
            <a:solidFill>
              <a:srgbClr val="F1F3F5"/>
            </a:solidFill>
            <a:prstDash val="solid"/>
          </a:ln>
        </p:spPr>
        <p:txBody>
          <a:bodyPr/>
          <a:lstStyle/>
          <a:p>
            <a:endParaRPr lang="en-US"/>
          </a:p>
        </p:txBody>
      </p:sp>
      <p:sp>
        <p:nvSpPr>
          <p:cNvPr id="8" name="Text 6"/>
          <p:cNvSpPr/>
          <p:nvPr/>
        </p:nvSpPr>
        <p:spPr>
          <a:xfrm>
            <a:off x="7232904" y="1645920"/>
            <a:ext cx="1143000" cy="292608"/>
          </a:xfrm>
          <a:prstGeom prst="rect">
            <a:avLst/>
          </a:prstGeom>
          <a:noFill/>
          <a:ln/>
        </p:spPr>
        <p:txBody>
          <a:bodyPr wrap="square" lIns="0" tIns="0" rIns="0" bIns="0" rtlCol="0" anchor="ctr"/>
          <a:lstStyle/>
          <a:p>
            <a:pPr marL="0" indent="0" algn="l">
              <a:buNone/>
            </a:pPr>
            <a:r>
              <a:rPr lang="en-US" sz="1100" b="1" dirty="0">
                <a:solidFill>
                  <a:srgbClr val="15181D"/>
                </a:solidFill>
                <a:latin typeface="Calibri" pitchFamily="34" charset="0"/>
                <a:ea typeface="Calibri" pitchFamily="34" charset="-122"/>
                <a:cs typeface="Calibri" pitchFamily="34" charset="-120"/>
              </a:rPr>
              <a:t>Split</a:t>
            </a:r>
            <a:endParaRPr lang="en-US" sz="1100" dirty="0"/>
          </a:p>
        </p:txBody>
      </p:sp>
      <p:sp>
        <p:nvSpPr>
          <p:cNvPr id="9" name="Text 7"/>
          <p:cNvSpPr/>
          <p:nvPr/>
        </p:nvSpPr>
        <p:spPr>
          <a:xfrm>
            <a:off x="8375904" y="1645920"/>
            <a:ext cx="114300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Periods</a:t>
            </a:r>
            <a:endParaRPr lang="en-US" sz="1100" dirty="0"/>
          </a:p>
        </p:txBody>
      </p:sp>
      <p:sp>
        <p:nvSpPr>
          <p:cNvPr id="10" name="Text 8"/>
          <p:cNvSpPr/>
          <p:nvPr/>
        </p:nvSpPr>
        <p:spPr>
          <a:xfrm>
            <a:off x="9518904" y="1645920"/>
            <a:ext cx="114300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Rows</a:t>
            </a:r>
            <a:endParaRPr lang="en-US" sz="1100" dirty="0"/>
          </a:p>
        </p:txBody>
      </p:sp>
      <p:sp>
        <p:nvSpPr>
          <p:cNvPr id="11" name="Text 9"/>
          <p:cNvSpPr/>
          <p:nvPr/>
        </p:nvSpPr>
        <p:spPr>
          <a:xfrm>
            <a:off x="10661904" y="1645920"/>
            <a:ext cx="868680" cy="292608"/>
          </a:xfrm>
          <a:prstGeom prst="rect">
            <a:avLst/>
          </a:prstGeom>
          <a:noFill/>
          <a:ln/>
        </p:spPr>
        <p:txBody>
          <a:bodyPr wrap="square" lIns="0" tIns="0" rIns="0" bIns="0" rtlCol="0" anchor="ctr"/>
          <a:lstStyle/>
          <a:p>
            <a:pPr marL="0" indent="0" algn="r">
              <a:buNone/>
            </a:pPr>
            <a:r>
              <a:rPr lang="en-US" sz="1100" b="1" dirty="0">
                <a:solidFill>
                  <a:srgbClr val="15181D"/>
                </a:solidFill>
                <a:latin typeface="Courier New" pitchFamily="34" charset="0"/>
                <a:ea typeface="Courier New" pitchFamily="34" charset="-122"/>
                <a:cs typeface="Courier New" pitchFamily="34" charset="-120"/>
              </a:rPr>
              <a:t>Illicit</a:t>
            </a:r>
            <a:endParaRPr lang="en-US" sz="1100" dirty="0"/>
          </a:p>
        </p:txBody>
      </p:sp>
      <p:sp>
        <p:nvSpPr>
          <p:cNvPr id="12" name="Shape 10"/>
          <p:cNvSpPr/>
          <p:nvPr/>
        </p:nvSpPr>
        <p:spPr>
          <a:xfrm>
            <a:off x="7086600" y="2231136"/>
            <a:ext cx="4389120" cy="0"/>
          </a:xfrm>
          <a:prstGeom prst="line">
            <a:avLst/>
          </a:prstGeom>
          <a:noFill/>
          <a:ln w="9525">
            <a:solidFill>
              <a:srgbClr val="DDE1E6"/>
            </a:solidFill>
            <a:prstDash val="solid"/>
          </a:ln>
        </p:spPr>
        <p:txBody>
          <a:bodyPr/>
          <a:lstStyle/>
          <a:p>
            <a:endParaRPr lang="en-US"/>
          </a:p>
        </p:txBody>
      </p:sp>
      <p:sp>
        <p:nvSpPr>
          <p:cNvPr id="13" name="Text 11"/>
          <p:cNvSpPr/>
          <p:nvPr/>
        </p:nvSpPr>
        <p:spPr>
          <a:xfrm>
            <a:off x="7232904" y="1938528"/>
            <a:ext cx="114300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train</a:t>
            </a:r>
            <a:endParaRPr lang="en-US" sz="1100" dirty="0"/>
          </a:p>
        </p:txBody>
      </p:sp>
      <p:sp>
        <p:nvSpPr>
          <p:cNvPr id="14" name="Text 12"/>
          <p:cNvSpPr/>
          <p:nvPr/>
        </p:nvSpPr>
        <p:spPr>
          <a:xfrm>
            <a:off x="8375904" y="1938528"/>
            <a:ext cx="11430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1–34</a:t>
            </a:r>
            <a:endParaRPr lang="en-US" sz="1100" dirty="0"/>
          </a:p>
        </p:txBody>
      </p:sp>
      <p:sp>
        <p:nvSpPr>
          <p:cNvPr id="15" name="Text 13"/>
          <p:cNvSpPr/>
          <p:nvPr/>
        </p:nvSpPr>
        <p:spPr>
          <a:xfrm>
            <a:off x="9518904" y="1938528"/>
            <a:ext cx="11430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29,894</a:t>
            </a:r>
            <a:endParaRPr lang="en-US" sz="1100" dirty="0"/>
          </a:p>
        </p:txBody>
      </p:sp>
      <p:sp>
        <p:nvSpPr>
          <p:cNvPr id="16" name="Text 14"/>
          <p:cNvSpPr/>
          <p:nvPr/>
        </p:nvSpPr>
        <p:spPr>
          <a:xfrm>
            <a:off x="10661904" y="1938528"/>
            <a:ext cx="86868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11.58</a:t>
            </a:r>
            <a:endParaRPr lang="en-US" sz="1100" dirty="0"/>
          </a:p>
        </p:txBody>
      </p:sp>
      <p:sp>
        <p:nvSpPr>
          <p:cNvPr id="17" name="Shape 15"/>
          <p:cNvSpPr/>
          <p:nvPr/>
        </p:nvSpPr>
        <p:spPr>
          <a:xfrm>
            <a:off x="7086600" y="2523744"/>
            <a:ext cx="4389120" cy="0"/>
          </a:xfrm>
          <a:prstGeom prst="line">
            <a:avLst/>
          </a:prstGeom>
          <a:noFill/>
          <a:ln w="9525">
            <a:solidFill>
              <a:srgbClr val="DDE1E6"/>
            </a:solidFill>
            <a:prstDash val="solid"/>
          </a:ln>
        </p:spPr>
        <p:txBody>
          <a:bodyPr/>
          <a:lstStyle/>
          <a:p>
            <a:endParaRPr lang="en-US"/>
          </a:p>
        </p:txBody>
      </p:sp>
      <p:sp>
        <p:nvSpPr>
          <p:cNvPr id="18" name="Text 16"/>
          <p:cNvSpPr/>
          <p:nvPr/>
        </p:nvSpPr>
        <p:spPr>
          <a:xfrm>
            <a:off x="7232904" y="2231136"/>
            <a:ext cx="1143000" cy="292608"/>
          </a:xfrm>
          <a:prstGeom prst="rect">
            <a:avLst/>
          </a:prstGeom>
          <a:noFill/>
          <a:ln/>
        </p:spPr>
        <p:txBody>
          <a:bodyPr wrap="square" lIns="0" tIns="0" rIns="0" bIns="0" rtlCol="0" anchor="ctr"/>
          <a:lstStyle/>
          <a:p>
            <a:pPr marL="0" indent="0" algn="l">
              <a:buNone/>
            </a:pPr>
            <a:r>
              <a:rPr lang="en-US" sz="1100" dirty="0">
                <a:solidFill>
                  <a:srgbClr val="48586B"/>
                </a:solidFill>
                <a:latin typeface="Calibri" pitchFamily="34" charset="0"/>
                <a:ea typeface="Calibri" pitchFamily="34" charset="-122"/>
                <a:cs typeface="Calibri" pitchFamily="34" charset="-120"/>
              </a:rPr>
              <a:t>test</a:t>
            </a:r>
            <a:endParaRPr lang="en-US" sz="1100" dirty="0"/>
          </a:p>
        </p:txBody>
      </p:sp>
      <p:sp>
        <p:nvSpPr>
          <p:cNvPr id="19" name="Text 17"/>
          <p:cNvSpPr/>
          <p:nvPr/>
        </p:nvSpPr>
        <p:spPr>
          <a:xfrm>
            <a:off x="8375904" y="2231136"/>
            <a:ext cx="11430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35–49</a:t>
            </a:r>
            <a:endParaRPr lang="en-US" sz="1100" dirty="0"/>
          </a:p>
        </p:txBody>
      </p:sp>
      <p:sp>
        <p:nvSpPr>
          <p:cNvPr id="20" name="Text 18"/>
          <p:cNvSpPr/>
          <p:nvPr/>
        </p:nvSpPr>
        <p:spPr>
          <a:xfrm>
            <a:off x="9518904" y="2231136"/>
            <a:ext cx="114300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16,670</a:t>
            </a:r>
            <a:endParaRPr lang="en-US" sz="1100" dirty="0"/>
          </a:p>
        </p:txBody>
      </p:sp>
      <p:sp>
        <p:nvSpPr>
          <p:cNvPr id="21" name="Text 19"/>
          <p:cNvSpPr/>
          <p:nvPr/>
        </p:nvSpPr>
        <p:spPr>
          <a:xfrm>
            <a:off x="10661904" y="2231136"/>
            <a:ext cx="868680" cy="292608"/>
          </a:xfrm>
          <a:prstGeom prst="rect">
            <a:avLst/>
          </a:prstGeom>
          <a:noFill/>
          <a:ln/>
        </p:spPr>
        <p:txBody>
          <a:bodyPr wrap="square" lIns="0" tIns="0" rIns="0" bIns="0" rtlCol="0" anchor="ctr"/>
          <a:lstStyle/>
          <a:p>
            <a:pPr marL="0" indent="0" algn="r">
              <a:buNone/>
            </a:pPr>
            <a:r>
              <a:rPr lang="en-US" sz="1100" dirty="0">
                <a:solidFill>
                  <a:srgbClr val="48586B"/>
                </a:solidFill>
                <a:latin typeface="Courier New" pitchFamily="34" charset="0"/>
                <a:ea typeface="Courier New" pitchFamily="34" charset="-122"/>
                <a:cs typeface="Courier New" pitchFamily="34" charset="-120"/>
              </a:rPr>
              <a:t>6.50</a:t>
            </a:r>
            <a:endParaRPr lang="en-US" sz="1100" dirty="0"/>
          </a:p>
        </p:txBody>
      </p:sp>
      <p:sp>
        <p:nvSpPr>
          <p:cNvPr id="22" name="Text 20"/>
          <p:cNvSpPr/>
          <p:nvPr/>
        </p:nvSpPr>
        <p:spPr>
          <a:xfrm>
            <a:off x="7086600" y="2788920"/>
            <a:ext cx="4389120" cy="310896"/>
          </a:xfrm>
          <a:prstGeom prst="rect">
            <a:avLst/>
          </a:prstGeom>
          <a:noFill/>
          <a:ln/>
        </p:spPr>
        <p:txBody>
          <a:bodyPr wrap="square" lIns="0" tIns="0" rIns="0" bIns="0" rtlCol="0" anchor="ctr"/>
          <a:lstStyle/>
          <a:p>
            <a:pPr marL="0" indent="0">
              <a:buNone/>
            </a:pPr>
            <a:r>
              <a:rPr lang="en-US" sz="1500" b="1" dirty="0">
                <a:solidFill>
                  <a:srgbClr val="15181D"/>
                </a:solidFill>
                <a:latin typeface="Calibri" pitchFamily="34" charset="0"/>
                <a:ea typeface="Calibri" pitchFamily="34" charset="-122"/>
                <a:cs typeface="Calibri" pitchFamily="34" charset="-120"/>
              </a:rPr>
              <a:t>Split by time, not at random</a:t>
            </a:r>
            <a:endParaRPr lang="en-US" sz="1500" dirty="0"/>
          </a:p>
        </p:txBody>
      </p:sp>
      <p:sp>
        <p:nvSpPr>
          <p:cNvPr id="23" name="Text 21"/>
          <p:cNvSpPr/>
          <p:nvPr/>
        </p:nvSpPr>
        <p:spPr>
          <a:xfrm>
            <a:off x="7086600" y="3154680"/>
            <a:ext cx="4389120" cy="2560320"/>
          </a:xfrm>
          <a:prstGeom prst="rect">
            <a:avLst/>
          </a:prstGeom>
          <a:noFill/>
          <a:ln/>
        </p:spPr>
        <p:txBody>
          <a:bodyPr wrap="square" lIns="0" tIns="0" rIns="0" bIns="0" rtlCol="0" anchor="ctr"/>
          <a:lstStyle/>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Edges never cross periods, and each period is its own connected component. A random split would let a model observe the future of the same component it is scoring. Periods 1–34 / 35–49 is the split used in the published literature on this dataset, which keeps results comparable.</a:t>
            </a:r>
            <a:endParaRPr lang="en-US" sz="1150" dirty="0"/>
          </a:p>
          <a:p>
            <a:pPr marL="0" indent="0">
              <a:lnSpc>
                <a:spcPts val="1700"/>
              </a:lnSpc>
              <a:buNone/>
            </a:pPr>
            <a:endParaRPr lang="en-US" sz="1150" dirty="0"/>
          </a:p>
          <a:p>
            <a:pPr marL="0" indent="0">
              <a:lnSpc>
                <a:spcPts val="1700"/>
              </a:lnSpc>
              <a:buNone/>
            </a:pPr>
            <a:r>
              <a:rPr lang="en-US" sz="1150" dirty="0">
                <a:solidFill>
                  <a:srgbClr val="48586B"/>
                </a:solidFill>
                <a:latin typeface="Calibri" pitchFamily="34" charset="0"/>
                <a:ea typeface="Calibri" pitchFamily="34" charset="-122"/>
                <a:cs typeface="Calibri" pitchFamily="34" charset="-120"/>
              </a:rPr>
              <a:t>The two sides are not the same regime — 11.58% illicit against 6.50%. That is reported, not resampled away: a monitoring system is judged on whether it holds up when the population shifts, which is precisely what periods 43–46 did.</a:t>
            </a:r>
            <a:endParaRPr lang="en-US" sz="1150" dirty="0"/>
          </a:p>
        </p:txBody>
      </p:sp>
      <p:sp>
        <p:nvSpPr>
          <p:cNvPr id="24" name="Text 22"/>
          <p:cNvSpPr/>
          <p:nvPr/>
        </p:nvSpPr>
        <p:spPr>
          <a:xfrm>
            <a:off x="685800" y="4315968"/>
            <a:ext cx="5943600" cy="868680"/>
          </a:xfrm>
          <a:prstGeom prst="rect">
            <a:avLst/>
          </a:prstGeom>
          <a:noFill/>
          <a:ln/>
        </p:spPr>
        <p:txBody>
          <a:bodyPr wrap="square" lIns="0" tIns="0" rIns="0" bIns="0" rtlCol="0" anchor="ctr"/>
          <a:lstStyle/>
          <a:p>
            <a:pPr marL="0" indent="0">
              <a:lnSpc>
                <a:spcPts val="1800"/>
              </a:lnSpc>
              <a:buNone/>
            </a:pPr>
            <a:r>
              <a:rPr lang="en-US" sz="1200" dirty="0">
                <a:solidFill>
                  <a:srgbClr val="48586B"/>
                </a:solidFill>
                <a:latin typeface="Calibri" pitchFamily="34" charset="0"/>
                <a:ea typeface="Calibri" pitchFamily="34" charset="-122"/>
                <a:cs typeface="Calibri" pitchFamily="34" charset="-120"/>
              </a:rPr>
              <a:t>Three things settled here rather than left to whoever runs the model: unlabelled rows are excluded rather than coerced to zero; the target is encoded once; the split is defined in the database, so every future analysis inherits the same one.</a:t>
            </a:r>
            <a:endParaRPr lang="en-US" sz="1200" dirty="0"/>
          </a:p>
        </p:txBody>
      </p:sp>
      <p:sp>
        <p:nvSpPr>
          <p:cNvPr id="25" name="Text 23"/>
          <p:cNvSpPr/>
          <p:nvPr/>
        </p:nvSpPr>
        <p:spPr>
          <a:xfrm>
            <a:off x="685800" y="5257800"/>
            <a:ext cx="2011680" cy="548640"/>
          </a:xfrm>
          <a:prstGeom prst="rect">
            <a:avLst/>
          </a:prstGeom>
          <a:noFill/>
          <a:ln/>
        </p:spPr>
        <p:txBody>
          <a:bodyPr wrap="square" lIns="0" tIns="0" rIns="0" bIns="0" rtlCol="0" anchor="ctr"/>
          <a:lstStyle/>
          <a:p>
            <a:pPr marL="0" indent="0">
              <a:buNone/>
            </a:pPr>
            <a:r>
              <a:rPr lang="en-US" sz="3200" b="1" dirty="0">
                <a:solidFill>
                  <a:srgbClr val="C8322B"/>
                </a:solidFill>
                <a:latin typeface="Calibri" pitchFamily="34" charset="0"/>
                <a:ea typeface="Calibri" pitchFamily="34" charset="-122"/>
                <a:cs typeface="Calibri" pitchFamily="34" charset="-120"/>
              </a:rPr>
              <a:t>46,564</a:t>
            </a:r>
            <a:endParaRPr lang="en-US" sz="3200" dirty="0"/>
          </a:p>
        </p:txBody>
      </p:sp>
      <p:sp>
        <p:nvSpPr>
          <p:cNvPr id="26" name="Text 24"/>
          <p:cNvSpPr/>
          <p:nvPr/>
        </p:nvSpPr>
        <p:spPr>
          <a:xfrm>
            <a:off x="2788920" y="5257800"/>
            <a:ext cx="3840480" cy="640080"/>
          </a:xfrm>
          <a:prstGeom prst="rect">
            <a:avLst/>
          </a:prstGeom>
          <a:noFill/>
          <a:ln/>
        </p:spPr>
        <p:txBody>
          <a:bodyPr wrap="square" lIns="0" tIns="0" rIns="0" bIns="0" rtlCol="0" anchor="ctr"/>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labelled rows, 11 columns — the analysis-ready table, produced by SQL alone.</a:t>
            </a:r>
            <a:endParaRPr lang="en-US" sz="1200" dirty="0"/>
          </a:p>
        </p:txBody>
      </p:sp>
      <p:sp>
        <p:nvSpPr>
          <p:cNvPr id="27" name="Text 25"/>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16</a:t>
            </a:r>
            <a:endParaRPr lang="en-US" sz="1000" dirty="0"/>
          </a:p>
        </p:txBody>
      </p:sp>
      <p:sp>
        <p:nvSpPr>
          <p:cNvPr id="28" name="Text 26"/>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INTERPRETATION</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What the data supports — and what it does not</a:t>
            </a:r>
            <a:endParaRPr lang="en-US" sz="3000" dirty="0"/>
          </a:p>
        </p:txBody>
      </p:sp>
      <p:sp>
        <p:nvSpPr>
          <p:cNvPr id="5" name="Text 3"/>
          <p:cNvSpPr/>
          <p:nvPr/>
        </p:nvSpPr>
        <p:spPr>
          <a:xfrm>
            <a:off x="685800" y="1627632"/>
            <a:ext cx="1600200" cy="274320"/>
          </a:xfrm>
          <a:prstGeom prst="rect">
            <a:avLst/>
          </a:prstGeom>
          <a:noFill/>
          <a:ln/>
        </p:spPr>
        <p:txBody>
          <a:bodyPr wrap="square" lIns="0" tIns="0" rIns="0" bIns="0" rtlCol="0" anchor="t"/>
          <a:lstStyle/>
          <a:p>
            <a:pPr marL="0" indent="0">
              <a:buNone/>
            </a:pPr>
            <a:r>
              <a:rPr lang="en-US" sz="1000" b="1" kern="0" spc="120" dirty="0">
                <a:solidFill>
                  <a:srgbClr val="C8322B"/>
                </a:solidFill>
                <a:latin typeface="Calibri" pitchFamily="34" charset="0"/>
                <a:ea typeface="Calibri" pitchFamily="34" charset="-122"/>
                <a:cs typeface="Calibri" pitchFamily="34" charset="-120"/>
              </a:rPr>
              <a:t>SUPPORTED</a:t>
            </a:r>
            <a:endParaRPr lang="en-US" sz="1000" dirty="0"/>
          </a:p>
        </p:txBody>
      </p:sp>
      <p:sp>
        <p:nvSpPr>
          <p:cNvPr id="6" name="Text 4"/>
          <p:cNvSpPr/>
          <p:nvPr/>
        </p:nvSpPr>
        <p:spPr>
          <a:xfrm>
            <a:off x="2423160" y="1591056"/>
            <a:ext cx="9052560" cy="914400"/>
          </a:xfrm>
          <a:prstGeom prst="rect">
            <a:avLst/>
          </a:prstGeom>
          <a:noFill/>
          <a:ln/>
        </p:spPr>
        <p:txBody>
          <a:bodyPr wrap="square" lIns="0" tIns="0" rIns="0" bIns="0" rtlCol="0" anchor="t"/>
          <a:lstStyle/>
          <a:p>
            <a:pPr marL="0" indent="0">
              <a:lnSpc>
                <a:spcPts val="1900"/>
              </a:lnSpc>
              <a:buNone/>
            </a:pPr>
            <a:r>
              <a:rPr lang="en-US" sz="1250" dirty="0">
                <a:solidFill>
                  <a:srgbClr val="E9ECEF"/>
                </a:solidFill>
                <a:latin typeface="Calibri" pitchFamily="34" charset="0"/>
                <a:ea typeface="Calibri" pitchFamily="34" charset="-122"/>
                <a:cs typeface="Calibri" pitchFamily="34" charset="-120"/>
              </a:rPr>
              <a:t>Counterparty adjacency carries real signal. 30.0% of illicit transactions have an illicit neighbour against 2.4% of licit ones, and the derived ratio correlates with the outcome at r = 0.416 — stronger than any of the 165 supplied features.</a:t>
            </a:r>
            <a:endParaRPr lang="en-US" sz="1250" dirty="0"/>
          </a:p>
        </p:txBody>
      </p:sp>
      <p:sp>
        <p:nvSpPr>
          <p:cNvPr id="7" name="Text 5"/>
          <p:cNvSpPr/>
          <p:nvPr/>
        </p:nvSpPr>
        <p:spPr>
          <a:xfrm>
            <a:off x="685800" y="2633472"/>
            <a:ext cx="1600200" cy="274320"/>
          </a:xfrm>
          <a:prstGeom prst="rect">
            <a:avLst/>
          </a:prstGeom>
          <a:noFill/>
          <a:ln/>
        </p:spPr>
        <p:txBody>
          <a:bodyPr wrap="square" lIns="0" tIns="0" rIns="0" bIns="0" rtlCol="0" anchor="t"/>
          <a:lstStyle/>
          <a:p>
            <a:pPr marL="0" indent="0">
              <a:buNone/>
            </a:pPr>
            <a:r>
              <a:rPr lang="en-US" sz="1000" b="1" kern="0" spc="120" dirty="0">
                <a:solidFill>
                  <a:srgbClr val="C8322B"/>
                </a:solidFill>
                <a:latin typeface="Calibri" pitchFamily="34" charset="0"/>
                <a:ea typeface="Calibri" pitchFamily="34" charset="-122"/>
                <a:cs typeface="Calibri" pitchFamily="34" charset="-120"/>
              </a:rPr>
              <a:t>SUPPORTED</a:t>
            </a:r>
            <a:endParaRPr lang="en-US" sz="1000" dirty="0"/>
          </a:p>
        </p:txBody>
      </p:sp>
      <p:sp>
        <p:nvSpPr>
          <p:cNvPr id="8" name="Text 6"/>
          <p:cNvSpPr/>
          <p:nvPr/>
        </p:nvSpPr>
        <p:spPr>
          <a:xfrm>
            <a:off x="2423160" y="2596896"/>
            <a:ext cx="9052560" cy="914400"/>
          </a:xfrm>
          <a:prstGeom prst="rect">
            <a:avLst/>
          </a:prstGeom>
          <a:noFill/>
          <a:ln/>
        </p:spPr>
        <p:txBody>
          <a:bodyPr wrap="square" lIns="0" tIns="0" rIns="0" bIns="0" rtlCol="0" anchor="t"/>
          <a:lstStyle/>
          <a:p>
            <a:pPr marL="0" indent="0">
              <a:lnSpc>
                <a:spcPts val="1900"/>
              </a:lnSpc>
              <a:buNone/>
            </a:pPr>
            <a:r>
              <a:rPr lang="en-US" sz="1250" dirty="0">
                <a:solidFill>
                  <a:srgbClr val="E9ECEF"/>
                </a:solidFill>
                <a:latin typeface="Calibri" pitchFamily="34" charset="0"/>
                <a:ea typeface="Calibri" pitchFamily="34" charset="-122"/>
                <a:cs typeface="Calibri" pitchFamily="34" charset="-120"/>
              </a:rPr>
              <a:t>The illicit population is not stationary. A 40-fold collapse across periods 43–46 followed by recovery means any fixed threshold calibrated before period 42 would have behaved differently after it.</a:t>
            </a:r>
            <a:endParaRPr lang="en-US" sz="1250" dirty="0"/>
          </a:p>
        </p:txBody>
      </p:sp>
      <p:sp>
        <p:nvSpPr>
          <p:cNvPr id="9" name="Text 7"/>
          <p:cNvSpPr/>
          <p:nvPr/>
        </p:nvSpPr>
        <p:spPr>
          <a:xfrm>
            <a:off x="685800" y="3639312"/>
            <a:ext cx="1600200" cy="274320"/>
          </a:xfrm>
          <a:prstGeom prst="rect">
            <a:avLst/>
          </a:prstGeom>
          <a:noFill/>
          <a:ln/>
        </p:spPr>
        <p:txBody>
          <a:bodyPr wrap="square" lIns="0" tIns="0" rIns="0" bIns="0" rtlCol="0" anchor="t"/>
          <a:lstStyle/>
          <a:p>
            <a:pPr marL="0" indent="0">
              <a:buNone/>
            </a:pPr>
            <a:r>
              <a:rPr lang="en-US" sz="1000" b="1" kern="0" spc="120" dirty="0">
                <a:solidFill>
                  <a:srgbClr val="6E7A88"/>
                </a:solidFill>
                <a:latin typeface="Calibri" pitchFamily="34" charset="0"/>
                <a:ea typeface="Calibri" pitchFamily="34" charset="-122"/>
                <a:cs typeface="Calibri" pitchFamily="34" charset="-120"/>
              </a:rPr>
              <a:t>NOT SUPPORTED</a:t>
            </a:r>
            <a:endParaRPr lang="en-US" sz="1000" dirty="0"/>
          </a:p>
        </p:txBody>
      </p:sp>
      <p:sp>
        <p:nvSpPr>
          <p:cNvPr id="10" name="Text 8"/>
          <p:cNvSpPr/>
          <p:nvPr/>
        </p:nvSpPr>
        <p:spPr>
          <a:xfrm>
            <a:off x="2423160" y="3602736"/>
            <a:ext cx="9052560" cy="914400"/>
          </a:xfrm>
          <a:prstGeom prst="rect">
            <a:avLst/>
          </a:prstGeom>
          <a:noFill/>
          <a:ln/>
        </p:spPr>
        <p:txBody>
          <a:bodyPr wrap="square" lIns="0" tIns="0" rIns="0" bIns="0" rtlCol="0" anchor="t"/>
          <a:lstStyle/>
          <a:p>
            <a:pPr marL="0" indent="0">
              <a:lnSpc>
                <a:spcPts val="1900"/>
              </a:lnSpc>
              <a:buNone/>
            </a:pPr>
            <a:r>
              <a:rPr lang="en-US" sz="1250" dirty="0">
                <a:solidFill>
                  <a:srgbClr val="6E7A88"/>
                </a:solidFill>
                <a:latin typeface="Calibri" pitchFamily="34" charset="0"/>
                <a:ea typeface="Calibri" pitchFamily="34" charset="-122"/>
                <a:cs typeface="Calibri" pitchFamily="34" charset="-120"/>
              </a:rPr>
              <a:t>Any statement about what drives illicit activity. The features are obfuscated: local_feature_53 separates the classes, but what it measures is unknown and unknowable from this data.</a:t>
            </a:r>
            <a:endParaRPr lang="en-US" sz="1250" dirty="0"/>
          </a:p>
        </p:txBody>
      </p:sp>
      <p:sp>
        <p:nvSpPr>
          <p:cNvPr id="11" name="Text 9"/>
          <p:cNvSpPr/>
          <p:nvPr/>
        </p:nvSpPr>
        <p:spPr>
          <a:xfrm>
            <a:off x="685800" y="4645152"/>
            <a:ext cx="1600200" cy="274320"/>
          </a:xfrm>
          <a:prstGeom prst="rect">
            <a:avLst/>
          </a:prstGeom>
          <a:noFill/>
          <a:ln/>
        </p:spPr>
        <p:txBody>
          <a:bodyPr wrap="square" lIns="0" tIns="0" rIns="0" bIns="0" rtlCol="0" anchor="t"/>
          <a:lstStyle/>
          <a:p>
            <a:pPr marL="0" indent="0">
              <a:buNone/>
            </a:pPr>
            <a:r>
              <a:rPr lang="en-US" sz="1000" b="1" kern="0" spc="120" dirty="0">
                <a:solidFill>
                  <a:srgbClr val="6E7A88"/>
                </a:solidFill>
                <a:latin typeface="Calibri" pitchFamily="34" charset="0"/>
                <a:ea typeface="Calibri" pitchFamily="34" charset="-122"/>
                <a:cs typeface="Calibri" pitchFamily="34" charset="-120"/>
              </a:rPr>
              <a:t>NOT SUPPORTED</a:t>
            </a:r>
            <a:endParaRPr lang="en-US" sz="1000" dirty="0"/>
          </a:p>
        </p:txBody>
      </p:sp>
      <p:sp>
        <p:nvSpPr>
          <p:cNvPr id="12" name="Text 10"/>
          <p:cNvSpPr/>
          <p:nvPr/>
        </p:nvSpPr>
        <p:spPr>
          <a:xfrm>
            <a:off x="2423160" y="4608576"/>
            <a:ext cx="9052560" cy="914400"/>
          </a:xfrm>
          <a:prstGeom prst="rect">
            <a:avLst/>
          </a:prstGeom>
          <a:noFill/>
          <a:ln/>
        </p:spPr>
        <p:txBody>
          <a:bodyPr wrap="square" lIns="0" tIns="0" rIns="0" bIns="0" rtlCol="0" anchor="t"/>
          <a:lstStyle/>
          <a:p>
            <a:pPr marL="0" indent="0">
              <a:lnSpc>
                <a:spcPts val="1900"/>
              </a:lnSpc>
              <a:buNone/>
            </a:pPr>
            <a:r>
              <a:rPr lang="en-US" sz="1250" dirty="0">
                <a:solidFill>
                  <a:srgbClr val="6E7A88"/>
                </a:solidFill>
                <a:latin typeface="Calibri" pitchFamily="34" charset="0"/>
                <a:ea typeface="Calibri" pitchFamily="34" charset="-122"/>
                <a:cs typeface="Calibri" pitchFamily="34" charset="-120"/>
              </a:rPr>
              <a:t>Any attribution to a person, wallet or institution. Edges join transactions, not parties. Nothing here identifies who did anything.</a:t>
            </a:r>
            <a:endParaRPr lang="en-US" sz="1250" dirty="0"/>
          </a:p>
        </p:txBody>
      </p:sp>
      <p:sp>
        <p:nvSpPr>
          <p:cNvPr id="13" name="Shape 11"/>
          <p:cNvSpPr/>
          <p:nvPr/>
        </p:nvSpPr>
        <p:spPr>
          <a:xfrm>
            <a:off x="685800" y="5705856"/>
            <a:ext cx="10789920" cy="0"/>
          </a:xfrm>
          <a:prstGeom prst="line">
            <a:avLst/>
          </a:prstGeom>
          <a:noFill/>
          <a:ln w="12700">
            <a:solidFill>
              <a:srgbClr val="2A2E35"/>
            </a:solidFill>
            <a:prstDash val="solid"/>
          </a:ln>
        </p:spPr>
        <p:txBody>
          <a:bodyPr/>
          <a:lstStyle/>
          <a:p>
            <a:endParaRPr lang="en-US"/>
          </a:p>
        </p:txBody>
      </p:sp>
      <p:sp>
        <p:nvSpPr>
          <p:cNvPr id="14" name="Text 12"/>
          <p:cNvSpPr/>
          <p:nvPr/>
        </p:nvSpPr>
        <p:spPr>
          <a:xfrm>
            <a:off x="685800" y="5833872"/>
            <a:ext cx="10789920" cy="310896"/>
          </a:xfrm>
          <a:prstGeom prst="rect">
            <a:avLst/>
          </a:prstGeom>
          <a:noFill/>
          <a:ln/>
        </p:spPr>
        <p:txBody>
          <a:bodyPr wrap="square" lIns="0" tIns="0" rIns="0" bIns="0" rtlCol="0" anchor="ctr"/>
          <a:lstStyle/>
          <a:p>
            <a:pPr marL="0" indent="0">
              <a:buNone/>
            </a:pPr>
            <a:r>
              <a:rPr lang="en-US" sz="1200" i="1" dirty="0">
                <a:solidFill>
                  <a:srgbClr val="6E7A88"/>
                </a:solidFill>
                <a:latin typeface="Calibri" pitchFamily="34" charset="0"/>
                <a:ea typeface="Calibri" pitchFamily="34" charset="-122"/>
                <a:cs typeface="Calibri" pitchFamily="34" charset="-120"/>
              </a:rPr>
              <a:t>Every claim above traces to a named object and a query that can be re-run — and every claim that cannot is listed as unsupported.</a:t>
            </a:r>
            <a:endParaRPr lang="en-US" sz="1200" dirty="0"/>
          </a:p>
        </p:txBody>
      </p:sp>
      <p:sp>
        <p:nvSpPr>
          <p:cNvPr id="15" name="Text 13"/>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17</a:t>
            </a:r>
            <a:endParaRPr lang="en-US" sz="1000" dirty="0"/>
          </a:p>
        </p:txBody>
      </p:sp>
      <p:sp>
        <p:nvSpPr>
          <p:cNvPr id="16" name="Text 14"/>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LIMITATIONS</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15181D"/>
                </a:solidFill>
                <a:latin typeface="Calibri" pitchFamily="34" charset="0"/>
                <a:ea typeface="Calibri" pitchFamily="34" charset="-122"/>
                <a:cs typeface="Calibri" pitchFamily="34" charset="-120"/>
              </a:rPr>
              <a:t>Four constraints, scoped rather than concealed</a:t>
            </a:r>
            <a:endParaRPr lang="en-US" sz="3000" dirty="0"/>
          </a:p>
        </p:txBody>
      </p:sp>
      <p:sp>
        <p:nvSpPr>
          <p:cNvPr id="5" name="Shape 3"/>
          <p:cNvSpPr/>
          <p:nvPr/>
        </p:nvSpPr>
        <p:spPr>
          <a:xfrm>
            <a:off x="685800" y="1691640"/>
            <a:ext cx="5212080" cy="1874520"/>
          </a:xfrm>
          <a:prstGeom prst="roundRect">
            <a:avLst>
              <a:gd name="adj" fmla="val 1951"/>
            </a:avLst>
          </a:prstGeom>
          <a:solidFill>
            <a:srgbClr val="F1F3F5"/>
          </a:solidFill>
          <a:ln w="12700">
            <a:solidFill>
              <a:srgbClr val="F1F3F5"/>
            </a:solidFill>
            <a:prstDash val="solid"/>
          </a:ln>
        </p:spPr>
        <p:txBody>
          <a:bodyPr/>
          <a:lstStyle/>
          <a:p>
            <a:endParaRPr lang="en-US"/>
          </a:p>
        </p:txBody>
      </p:sp>
      <p:sp>
        <p:nvSpPr>
          <p:cNvPr id="6" name="Text 4"/>
          <p:cNvSpPr/>
          <p:nvPr/>
        </p:nvSpPr>
        <p:spPr>
          <a:xfrm>
            <a:off x="941832" y="1892808"/>
            <a:ext cx="47000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Features are obfuscated</a:t>
            </a:r>
            <a:endParaRPr lang="en-US" sz="1400" dirty="0"/>
          </a:p>
        </p:txBody>
      </p:sp>
      <p:sp>
        <p:nvSpPr>
          <p:cNvPr id="7" name="Text 5"/>
          <p:cNvSpPr/>
          <p:nvPr/>
        </p:nvSpPr>
        <p:spPr>
          <a:xfrm>
            <a:off x="941832" y="2240280"/>
            <a:ext cx="4700016" cy="112471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165 columns cannot be mapped to transaction value, fee or output count. Findings are stateable as "feature 53 separates the classes", never in business terms. Recorded in dim_feature.is_obfuscated.</a:t>
            </a:r>
            <a:endParaRPr lang="en-US" sz="1200" dirty="0"/>
          </a:p>
        </p:txBody>
      </p:sp>
      <p:sp>
        <p:nvSpPr>
          <p:cNvPr id="8" name="Shape 6"/>
          <p:cNvSpPr/>
          <p:nvPr/>
        </p:nvSpPr>
        <p:spPr>
          <a:xfrm>
            <a:off x="6263640" y="1691640"/>
            <a:ext cx="5212080" cy="1874520"/>
          </a:xfrm>
          <a:prstGeom prst="roundRect">
            <a:avLst>
              <a:gd name="adj" fmla="val 1951"/>
            </a:avLst>
          </a:prstGeom>
          <a:solidFill>
            <a:srgbClr val="F1F3F5"/>
          </a:solidFill>
          <a:ln w="12700">
            <a:solidFill>
              <a:srgbClr val="F1F3F5"/>
            </a:solidFill>
            <a:prstDash val="solid"/>
          </a:ln>
        </p:spPr>
        <p:txBody>
          <a:bodyPr/>
          <a:lstStyle/>
          <a:p>
            <a:endParaRPr lang="en-US"/>
          </a:p>
        </p:txBody>
      </p:sp>
      <p:sp>
        <p:nvSpPr>
          <p:cNvPr id="9" name="Text 7"/>
          <p:cNvSpPr/>
          <p:nvPr/>
        </p:nvSpPr>
        <p:spPr>
          <a:xfrm>
            <a:off x="6519672" y="1892808"/>
            <a:ext cx="47000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Edges join transactions, not parties</a:t>
            </a:r>
            <a:endParaRPr lang="en-US" sz="1400" dirty="0"/>
          </a:p>
        </p:txBody>
      </p:sp>
      <p:sp>
        <p:nvSpPr>
          <p:cNvPr id="10" name="Text 8"/>
          <p:cNvSpPr/>
          <p:nvPr/>
        </p:nvSpPr>
        <p:spPr>
          <a:xfrm>
            <a:off x="6519672" y="2240280"/>
            <a:ext cx="4700016" cy="112471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No wallets, accounts or counterparties exist in the data, so no customer dimension can be built and no predicted-illicit transaction can be attributed to a responsible address.</a:t>
            </a:r>
            <a:endParaRPr lang="en-US" sz="1200" dirty="0"/>
          </a:p>
        </p:txBody>
      </p:sp>
      <p:sp>
        <p:nvSpPr>
          <p:cNvPr id="11" name="Shape 9"/>
          <p:cNvSpPr/>
          <p:nvPr/>
        </p:nvSpPr>
        <p:spPr>
          <a:xfrm>
            <a:off x="685800" y="3794760"/>
            <a:ext cx="5212080" cy="1874520"/>
          </a:xfrm>
          <a:prstGeom prst="roundRect">
            <a:avLst>
              <a:gd name="adj" fmla="val 1951"/>
            </a:avLst>
          </a:prstGeom>
          <a:solidFill>
            <a:srgbClr val="F1F3F5"/>
          </a:solidFill>
          <a:ln w="12700">
            <a:solidFill>
              <a:srgbClr val="F1F3F5"/>
            </a:solidFill>
            <a:prstDash val="solid"/>
          </a:ln>
        </p:spPr>
        <p:txBody>
          <a:bodyPr/>
          <a:lstStyle/>
          <a:p>
            <a:endParaRPr lang="en-US"/>
          </a:p>
        </p:txBody>
      </p:sp>
      <p:sp>
        <p:nvSpPr>
          <p:cNvPr id="12" name="Text 10"/>
          <p:cNvSpPr/>
          <p:nvPr/>
        </p:nvSpPr>
        <p:spPr>
          <a:xfrm>
            <a:off x="941832" y="3995928"/>
            <a:ext cx="47000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77% unlabelled, 2.2% illicit</a:t>
            </a:r>
            <a:endParaRPr lang="en-US" sz="1400" dirty="0"/>
          </a:p>
        </p:txBody>
      </p:sp>
      <p:sp>
        <p:nvSpPr>
          <p:cNvPr id="13" name="Text 11"/>
          <p:cNvSpPr/>
          <p:nvPr/>
        </p:nvSpPr>
        <p:spPr>
          <a:xfrm>
            <a:off x="941832" y="4343400"/>
            <a:ext cx="4700016" cy="112471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Supervised scope is confined to 46,564 rows. At that base rate accuracy is meaningless; any threshold rule needs precision and recall at a fixed review budget.</a:t>
            </a:r>
            <a:endParaRPr lang="en-US" sz="1200" dirty="0"/>
          </a:p>
        </p:txBody>
      </p:sp>
      <p:sp>
        <p:nvSpPr>
          <p:cNvPr id="14" name="Shape 12"/>
          <p:cNvSpPr/>
          <p:nvPr/>
        </p:nvSpPr>
        <p:spPr>
          <a:xfrm>
            <a:off x="6263640" y="3794760"/>
            <a:ext cx="5212080" cy="1874520"/>
          </a:xfrm>
          <a:prstGeom prst="roundRect">
            <a:avLst>
              <a:gd name="adj" fmla="val 1951"/>
            </a:avLst>
          </a:prstGeom>
          <a:solidFill>
            <a:srgbClr val="F1F3F5"/>
          </a:solidFill>
          <a:ln w="12700">
            <a:solidFill>
              <a:srgbClr val="F1F3F5"/>
            </a:solidFill>
            <a:prstDash val="solid"/>
          </a:ln>
        </p:spPr>
        <p:txBody>
          <a:bodyPr/>
          <a:lstStyle/>
          <a:p>
            <a:endParaRPr lang="en-US"/>
          </a:p>
        </p:txBody>
      </p:sp>
      <p:sp>
        <p:nvSpPr>
          <p:cNvPr id="15" name="Text 13"/>
          <p:cNvSpPr/>
          <p:nvPr/>
        </p:nvSpPr>
        <p:spPr>
          <a:xfrm>
            <a:off x="6519672" y="3995928"/>
            <a:ext cx="4700016" cy="310896"/>
          </a:xfrm>
          <a:prstGeom prst="rect">
            <a:avLst/>
          </a:prstGeom>
          <a:noFill/>
          <a:ln/>
        </p:spPr>
        <p:txBody>
          <a:bodyPr wrap="square" lIns="0" tIns="0" rIns="0" bIns="0" rtlCol="0" anchor="ctr"/>
          <a:lstStyle/>
          <a:p>
            <a:pPr marL="0" indent="0">
              <a:buNone/>
            </a:pPr>
            <a:r>
              <a:rPr lang="en-US" sz="1400" b="1" dirty="0">
                <a:solidFill>
                  <a:srgbClr val="15181D"/>
                </a:solidFill>
                <a:latin typeface="Calibri" pitchFamily="34" charset="0"/>
                <a:ea typeface="Calibri" pitchFamily="34" charset="-122"/>
                <a:cs typeface="Calibri" pitchFamily="34" charset="-120"/>
              </a:rPr>
              <a:t>Labels are binary and historical</a:t>
            </a:r>
            <a:endParaRPr lang="en-US" sz="1400" dirty="0"/>
          </a:p>
        </p:txBody>
      </p:sp>
      <p:sp>
        <p:nvSpPr>
          <p:cNvPr id="16" name="Text 14"/>
          <p:cNvSpPr/>
          <p:nvPr/>
        </p:nvSpPr>
        <p:spPr>
          <a:xfrm>
            <a:off x="6519672" y="4343400"/>
            <a:ext cx="4700016" cy="1124712"/>
          </a:xfrm>
          <a:prstGeom prst="rect">
            <a:avLst/>
          </a:prstGeom>
          <a:noFill/>
          <a:ln/>
        </p:spPr>
        <p:txBody>
          <a:bodyPr wrap="square" lIns="0" tIns="0" rIns="0" bIns="0" rtlCol="0" anchor="t"/>
          <a:lstStyle/>
          <a:p>
            <a:pPr marL="0" indent="0">
              <a:lnSpc>
                <a:spcPts val="1700"/>
              </a:lnSpc>
              <a:buNone/>
            </a:pPr>
            <a:r>
              <a:rPr lang="en-US" sz="1200" dirty="0">
                <a:solidFill>
                  <a:srgbClr val="48586B"/>
                </a:solidFill>
                <a:latin typeface="Calibri" pitchFamily="34" charset="0"/>
                <a:ea typeface="Calibri" pitchFamily="34" charset="-122"/>
                <a:cs typeface="Calibri" pitchFamily="34" charset="-120"/>
              </a:rPr>
              <a:t>Scams, ransomware and terrorist financing collapse into one value, and the window closes before 2019 — so conclusions are methodological, not claims about current threat patterns.</a:t>
            </a:r>
            <a:endParaRPr lang="en-US" sz="1200" dirty="0"/>
          </a:p>
        </p:txBody>
      </p:sp>
      <p:sp>
        <p:nvSpPr>
          <p:cNvPr id="17" name="Text 15"/>
          <p:cNvSpPr/>
          <p:nvPr/>
        </p:nvSpPr>
        <p:spPr>
          <a:xfrm>
            <a:off x="685800" y="5806440"/>
            <a:ext cx="10789920" cy="411480"/>
          </a:xfrm>
          <a:prstGeom prst="rect">
            <a:avLst/>
          </a:prstGeom>
          <a:noFill/>
          <a:ln/>
        </p:spPr>
        <p:txBody>
          <a:bodyPr wrap="square" lIns="0" tIns="0" rIns="0" bIns="0" rtlCol="0" anchor="ctr"/>
          <a:lstStyle/>
          <a:p>
            <a:pPr marL="0" indent="0">
              <a:lnSpc>
                <a:spcPts val="1700"/>
              </a:lnSpc>
              <a:buNone/>
            </a:pPr>
            <a:r>
              <a:rPr lang="en-US" sz="1200" i="1" dirty="0">
                <a:solidFill>
                  <a:srgbClr val="6E7A88"/>
                </a:solidFill>
                <a:latin typeface="Calibri" pitchFamily="34" charset="0"/>
                <a:ea typeface="Calibri" pitchFamily="34" charset="-122"/>
                <a:cs typeface="Calibri" pitchFamily="34" charset="-120"/>
              </a:rPr>
              <a:t>None of these is fatal to the research question, which is about structure rather than prediction — but each one bounds what the finished database is allowed to claim.</a:t>
            </a:r>
            <a:endParaRPr lang="en-US" sz="1200" dirty="0"/>
          </a:p>
        </p:txBody>
      </p:sp>
      <p:sp>
        <p:nvSpPr>
          <p:cNvPr id="18" name="Text 16"/>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18</a:t>
            </a:r>
            <a:endParaRPr lang="en-US" sz="1000" dirty="0"/>
          </a:p>
        </p:txBody>
      </p:sp>
      <p:sp>
        <p:nvSpPr>
          <p:cNvPr id="19" name="Text 17"/>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dirty="0">
                <a:solidFill>
                  <a:srgbClr val="6E7A88"/>
                </a:solidFill>
                <a:latin typeface="Calibri" pitchFamily="34" charset="0"/>
                <a:ea typeface="Calibri" pitchFamily="34" charset="-122"/>
                <a:cs typeface="Calibri" pitchFamily="34" charset="-120"/>
              </a:rPr>
              <a:t>REMAINING WORK</a:t>
            </a:r>
            <a:endParaRPr lang="en-US" sz="1100" dirty="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What Unit 10 delivers</a:t>
            </a:r>
            <a:endParaRPr lang="en-US" sz="3000" dirty="0"/>
          </a:p>
        </p:txBody>
      </p:sp>
      <p:sp>
        <p:nvSpPr>
          <p:cNvPr id="5" name="Text 3"/>
          <p:cNvSpPr/>
          <p:nvPr/>
        </p:nvSpPr>
        <p:spPr>
          <a:xfrm>
            <a:off x="685800" y="1645920"/>
            <a:ext cx="548640" cy="749808"/>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01</a:t>
            </a:r>
            <a:endParaRPr lang="en-US" sz="1500" dirty="0"/>
          </a:p>
        </p:txBody>
      </p:sp>
      <p:sp>
        <p:nvSpPr>
          <p:cNvPr id="6" name="Text 4"/>
          <p:cNvSpPr/>
          <p:nvPr/>
        </p:nvSpPr>
        <p:spPr>
          <a:xfrm>
            <a:off x="1280160" y="1645920"/>
            <a:ext cx="2468880" cy="7498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Fit and evaluate</a:t>
            </a:r>
            <a:endParaRPr lang="en-US" sz="1350" dirty="0"/>
          </a:p>
        </p:txBody>
      </p:sp>
      <p:sp>
        <p:nvSpPr>
          <p:cNvPr id="7" name="Text 5"/>
          <p:cNvSpPr/>
          <p:nvPr/>
        </p:nvSpPr>
        <p:spPr>
          <a:xfrm>
            <a:off x="3886200" y="1645920"/>
            <a:ext cx="7589520" cy="749808"/>
          </a:xfrm>
          <a:prstGeom prst="rect">
            <a:avLst/>
          </a:prstGeom>
          <a:noFill/>
          <a:ln/>
        </p:spPr>
        <p:txBody>
          <a:bodyPr wrap="square" lIns="0" tIns="0" rIns="0" bIns="0" rtlCol="0" anchor="ctr"/>
          <a:lstStyle/>
          <a:p>
            <a:pPr marL="0" indent="0">
              <a:lnSpc>
                <a:spcPts val="1700"/>
              </a:lnSpc>
              <a:buNone/>
            </a:pPr>
            <a:r>
              <a:rPr lang="en-US" sz="1200" dirty="0">
                <a:solidFill>
                  <a:srgbClr val="6E7A88"/>
                </a:solidFill>
                <a:latin typeface="Calibri" pitchFamily="34" charset="0"/>
                <a:ea typeface="Calibri" pitchFamily="34" charset="-122"/>
                <a:cs typeface="Calibri" pitchFamily="34" charset="-120"/>
              </a:rPr>
              <a:t>Fit a model on vw_analysis_matrix and report precision and recall at a fixed review budget — the metric a triage queue is actually judged on.</a:t>
            </a:r>
            <a:endParaRPr lang="en-US" sz="1200" dirty="0"/>
          </a:p>
        </p:txBody>
      </p:sp>
      <p:sp>
        <p:nvSpPr>
          <p:cNvPr id="8" name="Text 6"/>
          <p:cNvSpPr/>
          <p:nvPr/>
        </p:nvSpPr>
        <p:spPr>
          <a:xfrm>
            <a:off x="685800" y="2468880"/>
            <a:ext cx="548640" cy="749808"/>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02</a:t>
            </a:r>
            <a:endParaRPr lang="en-US" sz="1500" dirty="0"/>
          </a:p>
        </p:txBody>
      </p:sp>
      <p:sp>
        <p:nvSpPr>
          <p:cNvPr id="9" name="Text 7"/>
          <p:cNvSpPr/>
          <p:nvPr/>
        </p:nvSpPr>
        <p:spPr>
          <a:xfrm>
            <a:off x="1280160" y="2468880"/>
            <a:ext cx="2468880" cy="7498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Partition by period</a:t>
            </a:r>
            <a:endParaRPr lang="en-US" sz="1350" dirty="0"/>
          </a:p>
        </p:txBody>
      </p:sp>
      <p:sp>
        <p:nvSpPr>
          <p:cNvPr id="10" name="Text 8"/>
          <p:cNvSpPr/>
          <p:nvPr/>
        </p:nvSpPr>
        <p:spPr>
          <a:xfrm>
            <a:off x="3886200" y="2468880"/>
            <a:ext cx="7589520" cy="749808"/>
          </a:xfrm>
          <a:prstGeom prst="rect">
            <a:avLst/>
          </a:prstGeom>
          <a:noFill/>
          <a:ln/>
        </p:spPr>
        <p:txBody>
          <a:bodyPr wrap="square" lIns="0" tIns="0" rIns="0" bIns="0" rtlCol="0" anchor="ctr"/>
          <a:lstStyle/>
          <a:p>
            <a:pPr marL="0" indent="0">
              <a:lnSpc>
                <a:spcPts val="1700"/>
              </a:lnSpc>
              <a:buNone/>
            </a:pPr>
            <a:r>
              <a:rPr lang="en-US" sz="1200" dirty="0">
                <a:solidFill>
                  <a:srgbClr val="6E7A88"/>
                </a:solidFill>
                <a:latin typeface="Calibri" pitchFamily="34" charset="0"/>
                <a:ea typeface="Calibri" pitchFamily="34" charset="-122"/>
                <a:cs typeface="Calibri" pitchFamily="34" charset="-120"/>
              </a:rPr>
              <a:t>Range-partition core.transaction and tx_feature on time_step. Period-scoped queries are the dominant access pattern and currently scan more than they need.</a:t>
            </a:r>
            <a:endParaRPr lang="en-US" sz="1200" dirty="0"/>
          </a:p>
        </p:txBody>
      </p:sp>
      <p:sp>
        <p:nvSpPr>
          <p:cNvPr id="11" name="Text 9"/>
          <p:cNvSpPr/>
          <p:nvPr/>
        </p:nvSpPr>
        <p:spPr>
          <a:xfrm>
            <a:off x="685800" y="3291840"/>
            <a:ext cx="548640" cy="749808"/>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03</a:t>
            </a:r>
            <a:endParaRPr lang="en-US" sz="1500" dirty="0"/>
          </a:p>
        </p:txBody>
      </p:sp>
      <p:sp>
        <p:nvSpPr>
          <p:cNvPr id="12" name="Text 10"/>
          <p:cNvSpPr/>
          <p:nvPr/>
        </p:nvSpPr>
        <p:spPr>
          <a:xfrm>
            <a:off x="1280160" y="3291840"/>
            <a:ext cx="2468880" cy="7498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Refresh strategy</a:t>
            </a:r>
            <a:endParaRPr lang="en-US" sz="1350" dirty="0"/>
          </a:p>
        </p:txBody>
      </p:sp>
      <p:sp>
        <p:nvSpPr>
          <p:cNvPr id="13" name="Text 11"/>
          <p:cNvSpPr/>
          <p:nvPr/>
        </p:nvSpPr>
        <p:spPr>
          <a:xfrm>
            <a:off x="3886200" y="3291840"/>
            <a:ext cx="7589520" cy="749808"/>
          </a:xfrm>
          <a:prstGeom prst="rect">
            <a:avLst/>
          </a:prstGeom>
          <a:noFill/>
          <a:ln/>
        </p:spPr>
        <p:txBody>
          <a:bodyPr wrap="square" lIns="0" tIns="0" rIns="0" bIns="0" rtlCol="0" anchor="ctr"/>
          <a:lstStyle/>
          <a:p>
            <a:pPr marL="0" indent="0">
              <a:lnSpc>
                <a:spcPts val="1700"/>
              </a:lnSpc>
              <a:buNone/>
            </a:pPr>
            <a:r>
              <a:rPr lang="en-US" sz="1200" dirty="0">
                <a:solidFill>
                  <a:srgbClr val="6E7A88"/>
                </a:solidFill>
                <a:latin typeface="Calibri" pitchFamily="34" charset="0"/>
                <a:ea typeface="Calibri" pitchFamily="34" charset="-122"/>
                <a:cs typeface="Calibri" pitchFamily="34" charset="-120"/>
              </a:rPr>
              <a:t>Materialised views are rebuilt wholesale. Define incremental refresh and state its cost per period.</a:t>
            </a:r>
            <a:endParaRPr lang="en-US" sz="1200" dirty="0"/>
          </a:p>
        </p:txBody>
      </p:sp>
      <p:sp>
        <p:nvSpPr>
          <p:cNvPr id="14" name="Text 12"/>
          <p:cNvSpPr/>
          <p:nvPr/>
        </p:nvSpPr>
        <p:spPr>
          <a:xfrm>
            <a:off x="685800" y="4114800"/>
            <a:ext cx="548640" cy="749808"/>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04</a:t>
            </a:r>
            <a:endParaRPr lang="en-US" sz="1500" dirty="0"/>
          </a:p>
        </p:txBody>
      </p:sp>
      <p:sp>
        <p:nvSpPr>
          <p:cNvPr id="15" name="Text 13"/>
          <p:cNvSpPr/>
          <p:nvPr/>
        </p:nvSpPr>
        <p:spPr>
          <a:xfrm>
            <a:off x="1280160" y="4114800"/>
            <a:ext cx="2468880" cy="7498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Actor layer</a:t>
            </a:r>
            <a:endParaRPr lang="en-US" sz="1350" dirty="0"/>
          </a:p>
        </p:txBody>
      </p:sp>
      <p:sp>
        <p:nvSpPr>
          <p:cNvPr id="16" name="Text 14"/>
          <p:cNvSpPr/>
          <p:nvPr/>
        </p:nvSpPr>
        <p:spPr>
          <a:xfrm>
            <a:off x="3886200" y="4114800"/>
            <a:ext cx="7589520" cy="749808"/>
          </a:xfrm>
          <a:prstGeom prst="rect">
            <a:avLst/>
          </a:prstGeom>
          <a:noFill/>
          <a:ln/>
        </p:spPr>
        <p:txBody>
          <a:bodyPr wrap="square" lIns="0" tIns="0" rIns="0" bIns="0" rtlCol="0" anchor="ctr"/>
          <a:lstStyle/>
          <a:p>
            <a:pPr marL="0" indent="0">
              <a:lnSpc>
                <a:spcPts val="1700"/>
              </a:lnSpc>
              <a:buNone/>
            </a:pPr>
            <a:r>
              <a:rPr lang="en-US" sz="1200" dirty="0">
                <a:solidFill>
                  <a:srgbClr val="6E7A88"/>
                </a:solidFill>
                <a:latin typeface="Calibri" pitchFamily="34" charset="0"/>
                <a:ea typeface="Calibri" pitchFamily="34" charset="-122"/>
                <a:cs typeface="Calibri" pitchFamily="34" charset="-120"/>
              </a:rPr>
              <a:t>Extend the schema with the Elliptic++ address layer so exposure can be attributed to an entity rather than a transaction.</a:t>
            </a:r>
            <a:endParaRPr lang="en-US" sz="1200" dirty="0"/>
          </a:p>
        </p:txBody>
      </p:sp>
      <p:sp>
        <p:nvSpPr>
          <p:cNvPr id="17" name="Text 15"/>
          <p:cNvSpPr/>
          <p:nvPr/>
        </p:nvSpPr>
        <p:spPr>
          <a:xfrm>
            <a:off x="685800" y="4937760"/>
            <a:ext cx="548640" cy="749808"/>
          </a:xfrm>
          <a:prstGeom prst="rect">
            <a:avLst/>
          </a:prstGeom>
          <a:noFill/>
          <a:ln/>
        </p:spPr>
        <p:txBody>
          <a:bodyPr wrap="square" lIns="0" tIns="0" rIns="0" bIns="0" rtlCol="0" anchor="ctr"/>
          <a:lstStyle/>
          <a:p>
            <a:pPr marL="0" indent="0">
              <a:buNone/>
            </a:pPr>
            <a:r>
              <a:rPr lang="en-US" sz="1500" b="1" dirty="0">
                <a:solidFill>
                  <a:srgbClr val="C8322B"/>
                </a:solidFill>
                <a:latin typeface="Courier New" pitchFamily="34" charset="0"/>
                <a:ea typeface="Courier New" pitchFamily="34" charset="-122"/>
                <a:cs typeface="Courier New" pitchFamily="34" charset="-120"/>
              </a:rPr>
              <a:t>05</a:t>
            </a:r>
            <a:endParaRPr lang="en-US" sz="1500" dirty="0"/>
          </a:p>
        </p:txBody>
      </p:sp>
      <p:sp>
        <p:nvSpPr>
          <p:cNvPr id="18" name="Text 16"/>
          <p:cNvSpPr/>
          <p:nvPr/>
        </p:nvSpPr>
        <p:spPr>
          <a:xfrm>
            <a:off x="1280160" y="4937760"/>
            <a:ext cx="2468880" cy="7498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Access control</a:t>
            </a:r>
            <a:endParaRPr lang="en-US" sz="1350" dirty="0"/>
          </a:p>
        </p:txBody>
      </p:sp>
      <p:sp>
        <p:nvSpPr>
          <p:cNvPr id="19" name="Text 17"/>
          <p:cNvSpPr/>
          <p:nvPr/>
        </p:nvSpPr>
        <p:spPr>
          <a:xfrm>
            <a:off x="3886200" y="4937760"/>
            <a:ext cx="7589520" cy="749808"/>
          </a:xfrm>
          <a:prstGeom prst="rect">
            <a:avLst/>
          </a:prstGeom>
          <a:noFill/>
          <a:ln/>
        </p:spPr>
        <p:txBody>
          <a:bodyPr wrap="square" lIns="0" tIns="0" rIns="0" bIns="0" rtlCol="0" anchor="ctr"/>
          <a:lstStyle/>
          <a:p>
            <a:pPr marL="0" indent="0">
              <a:lnSpc>
                <a:spcPts val="1700"/>
              </a:lnSpc>
              <a:buNone/>
            </a:pPr>
            <a:r>
              <a:rPr lang="en-US" sz="1200" dirty="0">
                <a:solidFill>
                  <a:srgbClr val="6E7A88"/>
                </a:solidFill>
                <a:latin typeface="Calibri" pitchFamily="34" charset="0"/>
                <a:ea typeface="Calibri" pitchFamily="34" charset="-122"/>
                <a:cs typeface="Calibri" pitchFamily="34" charset="-120"/>
              </a:rPr>
              <a:t>Role separation and row-level security, so the governance argument is enforced by the database rather than described in a document.</a:t>
            </a:r>
            <a:endParaRPr lang="en-US" sz="1200" dirty="0"/>
          </a:p>
        </p:txBody>
      </p:sp>
      <p:sp>
        <p:nvSpPr>
          <p:cNvPr id="20" name="Shape 18"/>
          <p:cNvSpPr/>
          <p:nvPr/>
        </p:nvSpPr>
        <p:spPr>
          <a:xfrm>
            <a:off x="685800" y="5806440"/>
            <a:ext cx="10789920" cy="0"/>
          </a:xfrm>
          <a:prstGeom prst="line">
            <a:avLst/>
          </a:prstGeom>
          <a:noFill/>
          <a:ln w="12700">
            <a:solidFill>
              <a:srgbClr val="2A2E35"/>
            </a:solidFill>
            <a:prstDash val="solid"/>
          </a:ln>
        </p:spPr>
        <p:txBody>
          <a:bodyPr/>
          <a:lstStyle/>
          <a:p>
            <a:endParaRPr lang="en-US"/>
          </a:p>
        </p:txBody>
      </p:sp>
      <p:sp>
        <p:nvSpPr>
          <p:cNvPr id="21" name="Text 19"/>
          <p:cNvSpPr/>
          <p:nvPr/>
        </p:nvSpPr>
        <p:spPr>
          <a:xfrm>
            <a:off x="685800" y="5943600"/>
            <a:ext cx="10789920" cy="411480"/>
          </a:xfrm>
          <a:prstGeom prst="rect">
            <a:avLst/>
          </a:prstGeom>
          <a:noFill/>
          <a:ln/>
        </p:spPr>
        <p:txBody>
          <a:bodyPr wrap="square" lIns="0" tIns="0" rIns="0" bIns="0" rtlCol="0" anchor="ctr"/>
          <a:lstStyle/>
          <a:p>
            <a:pPr marL="0" indent="0">
              <a:lnSpc>
                <a:spcPts val="1700"/>
              </a:lnSpc>
              <a:buNone/>
            </a:pPr>
            <a:r>
              <a:rPr lang="en-US" sz="1150">
                <a:solidFill>
                  <a:srgbClr val="E9ECEF"/>
                </a:solidFill>
                <a:latin typeface="Calibri" pitchFamily="34" charset="0"/>
                <a:ea typeface="Calibri" pitchFamily="34" charset="-122"/>
                <a:cs typeface="Calibri" pitchFamily="34" charset="-120"/>
              </a:rPr>
              <a:t>Every artefact supporting </a:t>
            </a:r>
            <a:r>
              <a:rPr lang="en-US" sz="1150" dirty="0">
                <a:solidFill>
                  <a:srgbClr val="E9ECEF"/>
                </a:solidFill>
                <a:latin typeface="Calibri" pitchFamily="34" charset="0"/>
                <a:ea typeface="Calibri" pitchFamily="34" charset="-122"/>
                <a:cs typeface="Calibri" pitchFamily="34" charset="-120"/>
              </a:rPr>
              <a:t>this milestone</a:t>
            </a:r>
            <a:r>
              <a:rPr lang="en-US" sz="1150">
                <a:solidFill>
                  <a:srgbClr val="E9ECEF"/>
                </a:solidFill>
                <a:latin typeface="Calibri" pitchFamily="34" charset="0"/>
                <a:ea typeface="Calibri" pitchFamily="34" charset="-122"/>
                <a:cs typeface="Calibri" pitchFamily="34" charset="-120"/>
              </a:rPr>
              <a:t> is itemised on the next slide.</a:t>
            </a:r>
            <a:endParaRPr lang="en-US" sz="1150" dirty="0"/>
          </a:p>
        </p:txBody>
      </p:sp>
      <p:sp>
        <p:nvSpPr>
          <p:cNvPr id="22" name="Text 20"/>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dirty="0">
                <a:solidFill>
                  <a:srgbClr val="6E7A88"/>
                </a:solidFill>
                <a:latin typeface="Calibri" pitchFamily="34" charset="0"/>
                <a:ea typeface="Calibri" pitchFamily="34" charset="-122"/>
                <a:cs typeface="Calibri" pitchFamily="34" charset="-120"/>
              </a:rPr>
              <a:t>19</a:t>
            </a:r>
            <a:endParaRPr lang="en-US" sz="1000" dirty="0"/>
          </a:p>
        </p:txBody>
      </p:sp>
      <p:sp>
        <p:nvSpPr>
          <p:cNvPr id="23" name="Text 21"/>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dirty="0">
                <a:solidFill>
                  <a:srgbClr val="6E7A88"/>
                </a:solidFill>
                <a:latin typeface="Calibri" pitchFamily="34" charset="0"/>
                <a:ea typeface="Calibri" pitchFamily="34" charset="-122"/>
                <a:cs typeface="Calibri" pitchFamily="34" charset="-120"/>
              </a:rPr>
              <a:t>ANLC-752  ·  Unit 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a:solidFill>
                  <a:srgbClr val="6E7A88"/>
                </a:solidFill>
                <a:latin typeface="Calibri" pitchFamily="34" charset="0"/>
                <a:ea typeface="Calibri" pitchFamily="34" charset="-122"/>
                <a:cs typeface="Calibri" pitchFamily="34" charset="-120"/>
              </a:rPr>
              <a:t>SUBMITTED ARTEFACTS</a:t>
            </a:r>
            <a:endParaRPr lang="en-US" sz="110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What ships with this milestone</a:t>
            </a:r>
            <a:endParaRPr lang="en-US" sz="3000"/>
          </a:p>
        </p:txBody>
      </p:sp>
      <p:sp>
        <p:nvSpPr>
          <p:cNvPr id="5" name="Text 3"/>
          <p:cNvSpPr/>
          <p:nvPr/>
        </p:nvSpPr>
        <p:spPr>
          <a:xfrm>
            <a:off x="685800" y="164592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01</a:t>
            </a:r>
            <a:endParaRPr lang="en-US" sz="1500"/>
          </a:p>
        </p:txBody>
      </p:sp>
      <p:sp>
        <p:nvSpPr>
          <p:cNvPr id="6" name="Text 4"/>
          <p:cNvSpPr/>
          <p:nvPr/>
        </p:nvSpPr>
        <p:spPr>
          <a:xfrm>
            <a:off x="1280160" y="164592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elliptic_txs_*.csv</a:t>
            </a:r>
            <a:endParaRPr lang="en-US" sz="1350"/>
          </a:p>
        </p:txBody>
      </p:sp>
      <p:sp>
        <p:nvSpPr>
          <p:cNvPr id="7" name="Text 5"/>
          <p:cNvSpPr/>
          <p:nvPr/>
        </p:nvSpPr>
        <p:spPr>
          <a:xfrm>
            <a:off x="3886200" y="164592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Raw data — the three Elliptic files (classes, edgelist, features) in ./data/, 690 MB in total. A SHA-256 of each is recorded in governance.etl_load_audit before a single row is read.</a:t>
            </a:r>
            <a:endParaRPr lang="en-US" sz="1200"/>
          </a:p>
        </p:txBody>
      </p:sp>
      <p:sp>
        <p:nvSpPr>
          <p:cNvPr id="8" name="Text 6"/>
          <p:cNvSpPr/>
          <p:nvPr/>
        </p:nvSpPr>
        <p:spPr>
          <a:xfrm>
            <a:off x="685800" y="246888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02</a:t>
            </a:r>
            <a:endParaRPr lang="en-US" sz="1500"/>
          </a:p>
        </p:txBody>
      </p:sp>
      <p:sp>
        <p:nvSpPr>
          <p:cNvPr id="9" name="Text 7"/>
          <p:cNvSpPr/>
          <p:nvPr/>
        </p:nvSpPr>
        <p:spPr>
          <a:xfrm>
            <a:off x="1280160" y="246888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sql/01–04_*.sql</a:t>
            </a:r>
            <a:endParaRPr lang="en-US" sz="1350"/>
          </a:p>
        </p:txBody>
      </p:sp>
      <p:sp>
        <p:nvSpPr>
          <p:cNvPr id="10" name="Text 8"/>
          <p:cNvSpPr/>
          <p:nvPr/>
        </p:nvSpPr>
        <p:spPr>
          <a:xfrm>
            <a:off x="3886200" y="246888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SQL code — 01_schema.sql, 02_indexes.sql, 03_analytics.sql, 04_analysis.sql. 01 is emitted by etl/gen_schema.py, so the schema cannot drift from what was built.</a:t>
            </a:r>
            <a:endParaRPr lang="en-US" sz="1200"/>
          </a:p>
        </p:txBody>
      </p:sp>
      <p:sp>
        <p:nvSpPr>
          <p:cNvPr id="11" name="Text 9"/>
          <p:cNvSpPr/>
          <p:nvPr/>
        </p:nvSpPr>
        <p:spPr>
          <a:xfrm>
            <a:off x="685800" y="329184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03</a:t>
            </a:r>
            <a:endParaRPr lang="en-US" sz="1500"/>
          </a:p>
        </p:txBody>
      </p:sp>
      <p:sp>
        <p:nvSpPr>
          <p:cNvPr id="12" name="Text 10"/>
          <p:cNvSpPr/>
          <p:nvPr/>
        </p:nvSpPr>
        <p:spPr>
          <a:xfrm>
            <a:off x="1280160" y="329184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etl/etl_load.py</a:t>
            </a:r>
            <a:endParaRPr lang="en-US" sz="1350"/>
          </a:p>
        </p:txBody>
      </p:sp>
      <p:sp>
        <p:nvSpPr>
          <p:cNvPr id="13" name="Text 11"/>
          <p:cNvSpPr/>
          <p:nvPr/>
        </p:nvSpPr>
        <p:spPr>
          <a:xfrm>
            <a:off x="3886200" y="329184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ETL pipeline — extract, validate, transform, load and build, all in a single transaction. Idempotent: a fifth run produces the same database as the first.</a:t>
            </a:r>
            <a:endParaRPr lang="en-US" sz="1200"/>
          </a:p>
        </p:txBody>
      </p:sp>
      <p:sp>
        <p:nvSpPr>
          <p:cNvPr id="14" name="Text 12"/>
          <p:cNvSpPr/>
          <p:nvPr/>
        </p:nvSpPr>
        <p:spPr>
          <a:xfrm>
            <a:off x="685800" y="411480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04</a:t>
            </a:r>
            <a:endParaRPr lang="en-US" sz="1500"/>
          </a:p>
        </p:txBody>
      </p:sp>
      <p:sp>
        <p:nvSpPr>
          <p:cNvPr id="15" name="Text 13"/>
          <p:cNvSpPr/>
          <p:nvPr/>
        </p:nvSpPr>
        <p:spPr>
          <a:xfrm>
            <a:off x="1280160" y="411480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elliptic_aml.dump</a:t>
            </a:r>
            <a:endParaRPr lang="en-US" sz="1350"/>
          </a:p>
        </p:txBody>
      </p:sp>
      <p:sp>
        <p:nvSpPr>
          <p:cNvPr id="16" name="Text 14"/>
          <p:cNvSpPr/>
          <p:nvPr/>
        </p:nvSpPr>
        <p:spPr>
          <a:xfrm>
            <a:off x="3886200" y="411480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Database backup — pg_dump taken after a full validated run on PostgreSQL 16.2. 367 MB, of which core.tx_feature is 271 MB. Restorable without re-running the load.</a:t>
            </a:r>
            <a:endParaRPr lang="en-US" sz="1200"/>
          </a:p>
        </p:txBody>
      </p:sp>
      <p:sp>
        <p:nvSpPr>
          <p:cNvPr id="17" name="Text 15"/>
          <p:cNvSpPr/>
          <p:nvPr/>
        </p:nvSpPr>
        <p:spPr>
          <a:xfrm>
            <a:off x="685800" y="493776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05</a:t>
            </a:r>
            <a:endParaRPr lang="en-US" sz="1500"/>
          </a:p>
        </p:txBody>
      </p:sp>
      <p:sp>
        <p:nvSpPr>
          <p:cNvPr id="18" name="Text 16"/>
          <p:cNvSpPr/>
          <p:nvPr/>
        </p:nvSpPr>
        <p:spPr>
          <a:xfrm>
            <a:off x="1280160" y="493776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validation_run_log.txt</a:t>
            </a:r>
            <a:endParaRPr lang="en-US" sz="1350"/>
          </a:p>
        </p:txBody>
      </p:sp>
      <p:sp>
        <p:nvSpPr>
          <p:cNvPr id="19" name="Text 17"/>
          <p:cNvSpPr/>
          <p:nvPr/>
        </p:nvSpPr>
        <p:spPr>
          <a:xfrm>
            <a:off x="3886200" y="493776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Validation log — all nine rule results plus the injected-defect run; with docs/data_dictionary.md, read back out of the live catalog after loading.</a:t>
            </a:r>
            <a:endParaRPr lang="en-US" sz="1200"/>
          </a:p>
        </p:txBody>
      </p:sp>
      <p:sp>
        <p:nvSpPr>
          <p:cNvPr id="20" name="Shape 18"/>
          <p:cNvSpPr/>
          <p:nvPr/>
        </p:nvSpPr>
        <p:spPr>
          <a:xfrm>
            <a:off x="685800" y="5806440"/>
            <a:ext cx="10789920" cy="0"/>
          </a:xfrm>
          <a:prstGeom prst="line">
            <a:avLst/>
          </a:prstGeom>
          <a:noFill/>
          <a:ln w="12700">
            <a:solidFill>
              <a:srgbClr val="2A2E35"/>
            </a:solidFill>
            <a:prstDash val="solid"/>
          </a:ln>
        </p:spPr>
        <p:txBody>
          <a:bodyPr/>
          <a:lstStyle/>
          <a:p>
            <a:endParaRPr lang="en-US"/>
          </a:p>
        </p:txBody>
      </p:sp>
      <p:sp>
        <p:nvSpPr>
          <p:cNvPr id="21" name="Text 19"/>
          <p:cNvSpPr/>
          <p:nvPr/>
        </p:nvSpPr>
        <p:spPr>
          <a:xfrm>
            <a:off x="685800" y="5943600"/>
            <a:ext cx="10789920" cy="411480"/>
          </a:xfrm>
          <a:prstGeom prst="rect">
            <a:avLst/>
          </a:prstGeom>
          <a:noFill/>
          <a:ln/>
        </p:spPr>
        <p:txBody>
          <a:bodyPr wrap="square" lIns="0" tIns="0" rIns="0" bIns="0" rtlCol="0" anchor="ctr"/>
          <a:lstStyle/>
          <a:p>
            <a:pPr marL="0" indent="0">
              <a:lnSpc>
                <a:spcPts val="1700"/>
              </a:lnSpc>
              <a:buNone/>
            </a:pPr>
            <a:r>
              <a:rPr lang="en-US" sz="1150">
                <a:solidFill>
                  <a:srgbClr val="E9ECEF"/>
                </a:solidFill>
                <a:latin typeface="Calibri" pitchFamily="34" charset="0"/>
                <a:ea typeface="Calibri" pitchFamily="34" charset="-122"/>
                <a:cs typeface="Calibri" pitchFamily="34" charset="-120"/>
              </a:rPr>
              <a:t>Reproduce in three commands:   createdb elliptic_aml   ·   psql -f sql/01_schema.sql   ·   python3 etl/etl_load.py --data-dir ./data --dsn $DSN</a:t>
            </a:r>
            <a:endParaRPr lang="en-US" sz="1150"/>
          </a:p>
        </p:txBody>
      </p:sp>
      <p:sp>
        <p:nvSpPr>
          <p:cNvPr id="22" name="Text 20"/>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a:solidFill>
                  <a:srgbClr val="6E7A88"/>
                </a:solidFill>
                <a:latin typeface="Calibri" pitchFamily="34" charset="0"/>
                <a:ea typeface="Calibri" pitchFamily="34" charset="-122"/>
                <a:cs typeface="Calibri" pitchFamily="34" charset="-120"/>
              </a:rPr>
              <a:t>20</a:t>
            </a:r>
            <a:endParaRPr lang="en-US" sz="1000"/>
          </a:p>
        </p:txBody>
      </p:sp>
      <p:sp>
        <p:nvSpPr>
          <p:cNvPr id="23" name="Text 21"/>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a:solidFill>
                  <a:srgbClr val="6E7A88"/>
                </a:solidFill>
                <a:latin typeface="Calibri" pitchFamily="34" charset="0"/>
                <a:ea typeface="Calibri" pitchFamily="34" charset="-122"/>
                <a:cs typeface="Calibri" pitchFamily="34" charset="-120"/>
              </a:rPr>
              <a:t>ANLC-752  ·  Unit 8</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685800" y="475488"/>
            <a:ext cx="100584" cy="100584"/>
          </a:xfrm>
          <a:prstGeom prst="rect">
            <a:avLst/>
          </a:prstGeom>
          <a:solidFill>
            <a:srgbClr val="C8322B"/>
          </a:solidFill>
          <a:ln/>
        </p:spPr>
        <p:txBody>
          <a:bodyPr/>
          <a:lstStyle/>
          <a:p>
            <a:endParaRPr lang="en-US"/>
          </a:p>
        </p:txBody>
      </p:sp>
      <p:sp>
        <p:nvSpPr>
          <p:cNvPr id="3" name="Text 1"/>
          <p:cNvSpPr/>
          <p:nvPr/>
        </p:nvSpPr>
        <p:spPr>
          <a:xfrm>
            <a:off x="905256" y="384048"/>
            <a:ext cx="10570464" cy="274320"/>
          </a:xfrm>
          <a:prstGeom prst="rect">
            <a:avLst/>
          </a:prstGeom>
          <a:noFill/>
          <a:ln/>
        </p:spPr>
        <p:txBody>
          <a:bodyPr wrap="square" lIns="0" tIns="0" rIns="0" bIns="0" rtlCol="0" anchor="ctr"/>
          <a:lstStyle/>
          <a:p>
            <a:pPr marL="0" indent="0">
              <a:buNone/>
            </a:pPr>
            <a:r>
              <a:rPr lang="en-US" sz="1100" b="1" kern="0" spc="160">
                <a:solidFill>
                  <a:srgbClr val="6E7A88"/>
                </a:solidFill>
                <a:latin typeface="Calibri" pitchFamily="34" charset="0"/>
                <a:ea typeface="Calibri" pitchFamily="34" charset="-122"/>
                <a:cs typeface="Calibri" pitchFamily="34" charset="-120"/>
              </a:rPr>
              <a:t>CONCLUSION</a:t>
            </a:r>
            <a:endParaRPr lang="en-US" sz="1100"/>
          </a:p>
        </p:txBody>
      </p:sp>
      <p:sp>
        <p:nvSpPr>
          <p:cNvPr id="4" name="Text 2"/>
          <p:cNvSpPr/>
          <p:nvPr/>
        </p:nvSpPr>
        <p:spPr>
          <a:xfrm>
            <a:off x="685800" y="749808"/>
            <a:ext cx="10789920" cy="658368"/>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Answering the question set in Unit 1</a:t>
            </a:r>
            <a:endParaRPr lang="en-US" sz="3000"/>
          </a:p>
        </p:txBody>
      </p:sp>
      <p:sp>
        <p:nvSpPr>
          <p:cNvPr id="5" name="Text 3"/>
          <p:cNvSpPr/>
          <p:nvPr/>
        </p:nvSpPr>
        <p:spPr>
          <a:xfrm>
            <a:off x="685800" y="164592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01</a:t>
            </a:r>
            <a:endParaRPr lang="en-US" sz="1500"/>
          </a:p>
        </p:txBody>
      </p:sp>
      <p:sp>
        <p:nvSpPr>
          <p:cNvPr id="6" name="Text 4"/>
          <p:cNvSpPr/>
          <p:nvPr/>
        </p:nvSpPr>
        <p:spPr>
          <a:xfrm>
            <a:off x="1280160" y="164592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The question</a:t>
            </a:r>
            <a:endParaRPr lang="en-US" sz="1350"/>
          </a:p>
        </p:txBody>
      </p:sp>
      <p:sp>
        <p:nvSpPr>
          <p:cNvPr id="7" name="Text 5"/>
          <p:cNvSpPr/>
          <p:nvPr/>
        </p:nvSpPr>
        <p:spPr>
          <a:xfrm>
            <a:off x="3886200" y="164592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How can transaction-level Bitcoin data be structured in an RDBMS to support efficient identification and monitoring of patterns associated with illicit activity?</a:t>
            </a:r>
            <a:endParaRPr lang="en-US" sz="1200"/>
          </a:p>
        </p:txBody>
      </p:sp>
      <p:sp>
        <p:nvSpPr>
          <p:cNvPr id="8" name="Text 6"/>
          <p:cNvSpPr/>
          <p:nvPr/>
        </p:nvSpPr>
        <p:spPr>
          <a:xfrm>
            <a:off x="685800" y="246888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02</a:t>
            </a:r>
            <a:endParaRPr lang="en-US" sz="1500"/>
          </a:p>
        </p:txBody>
      </p:sp>
      <p:sp>
        <p:nvSpPr>
          <p:cNvPr id="9" name="Text 7"/>
          <p:cNvSpPr/>
          <p:nvPr/>
        </p:nvSpPr>
        <p:spPr>
          <a:xfrm>
            <a:off x="1280160" y="246888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What the structure made queryable</a:t>
            </a:r>
            <a:endParaRPr lang="en-US" sz="1350"/>
          </a:p>
        </p:txBody>
      </p:sp>
      <p:sp>
        <p:nvSpPr>
          <p:cNvPr id="10" name="Text 8"/>
          <p:cNvSpPr/>
          <p:nvPr/>
        </p:nvSpPr>
        <p:spPr>
          <a:xfrm>
            <a:off x="3886200" y="246888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A self-join through the edge table: 30.0% of illicit transactions sit next to a known illicit one against 2.4% of licit ones, and illicit_neighbour_ratio correlates with the outcome at r = 0.416.</a:t>
            </a:r>
            <a:endParaRPr lang="en-US" sz="1200"/>
          </a:p>
        </p:txBody>
      </p:sp>
      <p:sp>
        <p:nvSpPr>
          <p:cNvPr id="11" name="Text 9"/>
          <p:cNvSpPr/>
          <p:nvPr/>
        </p:nvSpPr>
        <p:spPr>
          <a:xfrm>
            <a:off x="685800" y="3291840"/>
            <a:ext cx="548640" cy="749808"/>
          </a:xfrm>
          <a:prstGeom prst="rect">
            <a:avLst/>
          </a:prstGeom>
          <a:noFill/>
          <a:ln/>
        </p:spPr>
        <p:txBody>
          <a:bodyPr wrap="square" lIns="0" tIns="0" rIns="0" bIns="0" rtlCol="0" anchor="ctr"/>
          <a:lstStyle/>
          <a:p>
            <a:pPr marL="0" indent="0">
              <a:buNone/>
            </a:pPr>
            <a:r>
              <a:rPr lang="en-US" sz="1500" b="1">
                <a:solidFill>
                  <a:srgbClr val="C8322B"/>
                </a:solidFill>
                <a:latin typeface="Courier New" pitchFamily="34" charset="0"/>
                <a:ea typeface="Courier New" pitchFamily="34" charset="-122"/>
                <a:cs typeface="Courier New" pitchFamily="34" charset="-120"/>
              </a:rPr>
              <a:t>03</a:t>
            </a:r>
            <a:endParaRPr lang="en-US" sz="1500"/>
          </a:p>
        </p:txBody>
      </p:sp>
      <p:sp>
        <p:nvSpPr>
          <p:cNvPr id="12" name="Text 10"/>
          <p:cNvSpPr/>
          <p:nvPr/>
        </p:nvSpPr>
        <p:spPr>
          <a:xfrm>
            <a:off x="1280160" y="329184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What it surfaced without a model</a:t>
            </a:r>
            <a:endParaRPr lang="en-US" sz="1350"/>
          </a:p>
        </p:txBody>
      </p:sp>
      <p:sp>
        <p:nvSpPr>
          <p:cNvPr id="13" name="Text 11"/>
          <p:cNvSpPr/>
          <p:nvPr/>
        </p:nvSpPr>
        <p:spPr>
          <a:xfrm>
            <a:off x="3886200" y="329184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A GROUP BY over one column exposed the 40-fold collapse across periods 43–46. The 46,564-row analysis matrix and its time-based split are defined in the database, not left to whoever fits the model.</a:t>
            </a:r>
            <a:endParaRPr lang="en-US" sz="1200"/>
          </a:p>
        </p:txBody>
      </p:sp>
      <p:sp>
        <p:nvSpPr>
          <p:cNvPr id="14" name="Text 12"/>
          <p:cNvSpPr/>
          <p:nvPr/>
        </p:nvSpPr>
        <p:spPr>
          <a:xfrm>
            <a:off x="685800" y="4114800"/>
            <a:ext cx="548640" cy="749808"/>
          </a:xfrm>
          <a:prstGeom prst="rect">
            <a:avLst/>
          </a:prstGeom>
          <a:noFill/>
          <a:ln/>
        </p:spPr>
        <p:txBody>
          <a:bodyPr wrap="square" lIns="0" tIns="0" rIns="0" bIns="0" rtlCol="0" anchor="ctr"/>
          <a:lstStyle/>
          <a:p>
            <a:pPr marL="0" indent="0">
              <a:buNone/>
            </a:pPr>
            <a:endParaRPr lang="en-US" sz="1500"/>
          </a:p>
        </p:txBody>
      </p:sp>
      <p:sp>
        <p:nvSpPr>
          <p:cNvPr id="15" name="Text 13"/>
          <p:cNvSpPr/>
          <p:nvPr/>
        </p:nvSpPr>
        <p:spPr>
          <a:xfrm>
            <a:off x="1280160" y="4114800"/>
            <a:ext cx="2468880" cy="749808"/>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The bottom line</a:t>
            </a:r>
            <a:endParaRPr lang="en-US" sz="1350"/>
          </a:p>
        </p:txBody>
      </p:sp>
      <p:sp>
        <p:nvSpPr>
          <p:cNvPr id="16" name="Text 14"/>
          <p:cNvSpPr/>
          <p:nvPr/>
        </p:nvSpPr>
        <p:spPr>
          <a:xfrm>
            <a:off x="3886200" y="4114800"/>
            <a:ext cx="7589520" cy="749808"/>
          </a:xfrm>
          <a:prstGeom prst="rect">
            <a:avLst/>
          </a:prstGeom>
          <a:noFill/>
          <a:ln/>
        </p:spPr>
        <p:txBody>
          <a:bodyPr wrap="square" lIns="0" tIns="0" rIns="0" bIns="0" rtlCol="0" anchor="ctr"/>
          <a:lstStyle/>
          <a:p>
            <a:pPr marL="0" indent="0">
              <a:lnSpc>
                <a:spcPts val="1700"/>
              </a:lnSpc>
              <a:buNone/>
            </a:pPr>
            <a:r>
              <a:rPr lang="en-US" sz="1200">
                <a:solidFill>
                  <a:srgbClr val="6E7A88"/>
                </a:solidFill>
                <a:latin typeface="Calibri" pitchFamily="34" charset="0"/>
                <a:ea typeface="Calibri" pitchFamily="34" charset="-122"/>
                <a:cs typeface="Calibri" pitchFamily="34" charset="-120"/>
              </a:rPr>
              <a:t>Structuring the data did not merely make analysis faster — it produced the interpretable signal the raw data could not supply. Every claim traces to a named object and a query that can be re-run.</a:t>
            </a:r>
            <a:endParaRPr lang="en-US" sz="1200"/>
          </a:p>
        </p:txBody>
      </p:sp>
      <p:sp>
        <p:nvSpPr>
          <p:cNvPr id="17" name="Text 15"/>
          <p:cNvSpPr/>
          <p:nvPr/>
        </p:nvSpPr>
        <p:spPr>
          <a:xfrm>
            <a:off x="685800" y="4937760"/>
            <a:ext cx="548640" cy="749808"/>
          </a:xfrm>
          <a:prstGeom prst="rect">
            <a:avLst/>
          </a:prstGeom>
          <a:noFill/>
          <a:ln/>
        </p:spPr>
        <p:txBody>
          <a:bodyPr wrap="square" lIns="0" tIns="0" rIns="0" bIns="0" rtlCol="0" anchor="ctr"/>
          <a:lstStyle/>
          <a:p>
            <a:pPr marL="0" indent="0">
              <a:buNone/>
            </a:pPr>
            <a:endParaRPr lang="en-US" sz="1500"/>
          </a:p>
        </p:txBody>
      </p:sp>
      <p:sp>
        <p:nvSpPr>
          <p:cNvPr id="18" name="Text 16"/>
          <p:cNvSpPr/>
          <p:nvPr/>
        </p:nvSpPr>
        <p:spPr>
          <a:xfrm>
            <a:off x="1280160" y="4937760"/>
            <a:ext cx="2468880" cy="749808"/>
          </a:xfrm>
          <a:prstGeom prst="rect">
            <a:avLst/>
          </a:prstGeom>
          <a:noFill/>
          <a:ln/>
        </p:spPr>
        <p:txBody>
          <a:bodyPr wrap="square" lIns="0" tIns="0" rIns="0" bIns="0" rtlCol="0" anchor="ctr"/>
          <a:lstStyle/>
          <a:p>
            <a:pPr marL="0" indent="0">
              <a:buNone/>
            </a:pPr>
            <a:endParaRPr lang="en-US" sz="1350"/>
          </a:p>
        </p:txBody>
      </p:sp>
      <p:sp>
        <p:nvSpPr>
          <p:cNvPr id="19" name="Text 17"/>
          <p:cNvSpPr/>
          <p:nvPr/>
        </p:nvSpPr>
        <p:spPr>
          <a:xfrm>
            <a:off x="3886200" y="4937760"/>
            <a:ext cx="7589520" cy="749808"/>
          </a:xfrm>
          <a:prstGeom prst="rect">
            <a:avLst/>
          </a:prstGeom>
          <a:noFill/>
          <a:ln/>
        </p:spPr>
        <p:txBody>
          <a:bodyPr wrap="square" lIns="0" tIns="0" rIns="0" bIns="0" rtlCol="0" anchor="ctr"/>
          <a:lstStyle/>
          <a:p>
            <a:pPr marL="0" indent="0">
              <a:lnSpc>
                <a:spcPts val="1700"/>
              </a:lnSpc>
              <a:buNone/>
            </a:pPr>
            <a:endParaRPr lang="en-US" sz="1200"/>
          </a:p>
        </p:txBody>
      </p:sp>
      <p:sp>
        <p:nvSpPr>
          <p:cNvPr id="20" name="Shape 18"/>
          <p:cNvSpPr/>
          <p:nvPr/>
        </p:nvSpPr>
        <p:spPr>
          <a:xfrm>
            <a:off x="685800" y="5806440"/>
            <a:ext cx="10789920" cy="0"/>
          </a:xfrm>
          <a:prstGeom prst="line">
            <a:avLst/>
          </a:prstGeom>
          <a:noFill/>
          <a:ln w="12700">
            <a:solidFill>
              <a:srgbClr val="2A2E35"/>
            </a:solidFill>
            <a:prstDash val="solid"/>
          </a:ln>
        </p:spPr>
        <p:txBody>
          <a:bodyPr/>
          <a:lstStyle/>
          <a:p>
            <a:endParaRPr lang="en-US"/>
          </a:p>
        </p:txBody>
      </p:sp>
      <p:sp>
        <p:nvSpPr>
          <p:cNvPr id="21" name="Text 19"/>
          <p:cNvSpPr/>
          <p:nvPr/>
        </p:nvSpPr>
        <p:spPr>
          <a:xfrm>
            <a:off x="685800" y="5943600"/>
            <a:ext cx="10789920" cy="411480"/>
          </a:xfrm>
          <a:prstGeom prst="rect">
            <a:avLst/>
          </a:prstGeom>
          <a:noFill/>
          <a:ln/>
        </p:spPr>
        <p:txBody>
          <a:bodyPr wrap="square" lIns="0" tIns="0" rIns="0" bIns="0" rtlCol="0" anchor="ctr"/>
          <a:lstStyle/>
          <a:p>
            <a:pPr marL="0" indent="0">
              <a:lnSpc>
                <a:spcPts val="1700"/>
              </a:lnSpc>
              <a:buNone/>
            </a:pPr>
            <a:r>
              <a:rPr lang="en-US" sz="1150">
                <a:solidFill>
                  <a:srgbClr val="E9ECEF"/>
                </a:solidFill>
                <a:latin typeface="Calibri" pitchFamily="34" charset="0"/>
                <a:ea typeface="Calibri" pitchFamily="34" charset="-122"/>
                <a:cs typeface="Calibri" pitchFamily="34" charset="-120"/>
              </a:rPr>
              <a:t>Unit 10:   fit and evaluate   ·   partition by period   ·   incremental refresh   ·   actor layer   ·   access control</a:t>
            </a:r>
            <a:endParaRPr lang="en-US" sz="1150"/>
          </a:p>
        </p:txBody>
      </p:sp>
      <p:sp>
        <p:nvSpPr>
          <p:cNvPr id="22" name="Text 20"/>
          <p:cNvSpPr/>
          <p:nvPr/>
        </p:nvSpPr>
        <p:spPr>
          <a:xfrm>
            <a:off x="11201400" y="6382512"/>
            <a:ext cx="365760" cy="274320"/>
          </a:xfrm>
          <a:prstGeom prst="rect">
            <a:avLst/>
          </a:prstGeom>
          <a:noFill/>
          <a:ln/>
        </p:spPr>
        <p:txBody>
          <a:bodyPr wrap="square" lIns="0" tIns="0" rIns="0" bIns="0" rtlCol="0" anchor="ctr"/>
          <a:lstStyle/>
          <a:p>
            <a:pPr marL="0" indent="0" algn="r">
              <a:buNone/>
            </a:pPr>
            <a:r>
              <a:rPr lang="en-US" sz="1000">
                <a:solidFill>
                  <a:srgbClr val="6E7A88"/>
                </a:solidFill>
                <a:latin typeface="Calibri" pitchFamily="34" charset="0"/>
                <a:ea typeface="Calibri" pitchFamily="34" charset="-122"/>
                <a:cs typeface="Calibri" pitchFamily="34" charset="-120"/>
              </a:rPr>
              <a:t>21</a:t>
            </a:r>
            <a:endParaRPr lang="en-US" sz="1000"/>
          </a:p>
        </p:txBody>
      </p:sp>
      <p:sp>
        <p:nvSpPr>
          <p:cNvPr id="23" name="Text 21"/>
          <p:cNvSpPr/>
          <p:nvPr/>
        </p:nvSpPr>
        <p:spPr>
          <a:xfrm>
            <a:off x="685800" y="6382512"/>
            <a:ext cx="3657600" cy="274320"/>
          </a:xfrm>
          <a:prstGeom prst="rect">
            <a:avLst/>
          </a:prstGeom>
          <a:noFill/>
          <a:ln/>
        </p:spPr>
        <p:txBody>
          <a:bodyPr wrap="square" lIns="0" tIns="0" rIns="0" bIns="0" rtlCol="0" anchor="ctr"/>
          <a:lstStyle/>
          <a:p>
            <a:pPr marL="0" indent="0">
              <a:buNone/>
            </a:pPr>
            <a:r>
              <a:rPr lang="en-US" sz="1000">
                <a:solidFill>
                  <a:srgbClr val="6E7A88"/>
                </a:solidFill>
                <a:latin typeface="Calibri" pitchFamily="34" charset="0"/>
                <a:ea typeface="Calibri" pitchFamily="34" charset="-122"/>
                <a:cs typeface="Calibri" pitchFamily="34" charset="-120"/>
              </a:rPr>
              <a:t>ANLC-752  ·  Unit 8</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3932</Words>
  <Application>Microsoft Macintosh PowerPoint</Application>
  <PresentationFormat>Widescreen</PresentationFormat>
  <Paragraphs>430</Paragraphs>
  <Slides>21</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ANLC-752 Unit 8 Project Milestone</dc:title>
  <dc:subject>PptxGenJS Presentation</dc:subject>
  <dc:creator>Alpesh Ranjan</dc:creator>
  <cp:lastModifiedBy>Alpesh Ranjan</cp:lastModifiedBy>
  <cp:revision>2</cp:revision>
  <dcterms:created xsi:type="dcterms:W3CDTF">2026-08-07T01:19:43Z</dcterms:created>
  <dcterms:modified xsi:type="dcterms:W3CDTF">2026-08-07T02:08:08Z</dcterms:modified>
</cp:coreProperties>
</file>